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 id="2147483708" r:id="rId6"/>
    <p:sldMasterId id="2147483720" r:id="rId7"/>
  </p:sldMasterIdLst>
  <p:sldIdLst>
    <p:sldId id="331" r:id="rId8"/>
    <p:sldId id="316" r:id="rId9"/>
    <p:sldId id="334" r:id="rId10"/>
    <p:sldId id="335" r:id="rId11"/>
    <p:sldId id="340" r:id="rId12"/>
    <p:sldId id="305" r:id="rId13"/>
    <p:sldId id="341" r:id="rId14"/>
    <p:sldId id="307" r:id="rId15"/>
    <p:sldId id="342" r:id="rId16"/>
    <p:sldId id="343" r:id="rId17"/>
    <p:sldId id="344" r:id="rId18"/>
    <p:sldId id="345" r:id="rId19"/>
    <p:sldId id="312" r:id="rId20"/>
    <p:sldId id="324" r:id="rId21"/>
    <p:sldId id="326" r:id="rId22"/>
    <p:sldId id="328" r:id="rId23"/>
    <p:sldId id="337" r:id="rId24"/>
    <p:sldId id="339" r:id="rId25"/>
    <p:sldId id="348" r:id="rId26"/>
    <p:sldId id="349" r:id="rId27"/>
    <p:sldId id="36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3" autoAdjust="0"/>
    <p:restoredTop sz="94660"/>
  </p:normalViewPr>
  <p:slideViewPr>
    <p:cSldViewPr snapToGrid="0">
      <p:cViewPr varScale="1">
        <p:scale>
          <a:sx n="106" d="100"/>
          <a:sy n="106" d="100"/>
        </p:scale>
        <p:origin x="106" y="3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a:solidFill>
                  <a:srgbClr val="E8E4DC"/>
                </a:solidFill>
                <a:latin typeface="Georgia"/>
              </a:defRPr>
            </a:pPr>
            <a:r>
              <a:rPr lang="en-US" sz="1600" dirty="0">
                <a:solidFill>
                  <a:srgbClr val="E8E4DC"/>
                </a:solidFill>
                <a:latin typeface="Georgia"/>
              </a:rPr>
              <a:t>Sample Data Visualization</a:t>
            </a:r>
          </a:p>
        </c:rich>
      </c:tx>
      <c:overlay val="0"/>
    </c:title>
    <c:autoTitleDeleted val="0"/>
    <c:plotArea>
      <c:layout/>
      <c:barChart>
        <c:barDir val="col"/>
        <c:grouping val="clustered"/>
        <c:varyColors val="1"/>
        <c:ser>
          <c:idx val="0"/>
          <c:order val="0"/>
          <c:tx>
            <c:v>Series A</c:v>
          </c:tx>
          <c:spPr>
            <a:solidFill>
              <a:srgbClr val="FFD700"/>
            </a:solidFill>
            <a:ln>
              <a:noFill/>
            </a:ln>
          </c:spPr>
          <c:invertIfNegative val="1"/>
          <c:dLbls>
            <c:numFmt formatCode="#,##0" sourceLinked="0"/>
            <c:spPr>
              <a:noFill/>
              <a:ln>
                <a:noFill/>
              </a:ln>
              <a:effectLst/>
            </c:spPr>
            <c:txPr>
              <a:bodyPr/>
              <a:lstStyle/>
              <a:p>
                <a:pPr>
                  <a:defRPr sz="1400">
                    <a:solidFill>
                      <a:srgbClr val="E8E4DC"/>
                    </a:solidFill>
                    <a:latin typeface="Georgia"/>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120</c:v>
              </c:pt>
              <c:pt idx="1">
                <c:v>185</c:v>
              </c:pt>
              <c:pt idx="2">
                <c:v>240</c:v>
              </c:pt>
              <c:pt idx="3">
                <c:v>310</c:v>
              </c:pt>
              <c:pt idx="4">
                <c:v>425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0A7-4E79-802E-DF388484AD1F}"/>
            </c:ext>
          </c:extLst>
        </c:ser>
        <c:ser>
          <c:idx val="1"/>
          <c:order val="1"/>
          <c:tx>
            <c:v>Series B</c:v>
          </c:tx>
          <c:spPr>
            <a:solidFill>
              <a:srgbClr val="C9A84C"/>
            </a:solidFill>
            <a:ln>
              <a:noFill/>
            </a:ln>
          </c:spPr>
          <c:invertIfNegative val="1"/>
          <c:dLbls>
            <c:numFmt formatCode="#,##0" sourceLinked="0"/>
            <c:spPr>
              <a:noFill/>
              <a:ln>
                <a:noFill/>
              </a:ln>
              <a:effectLst/>
            </c:spPr>
            <c:txPr>
              <a:bodyPr/>
              <a:lstStyle/>
              <a:p>
                <a:pPr>
                  <a:defRPr sz="1400">
                    <a:solidFill>
                      <a:srgbClr val="E8E4DC"/>
                    </a:solidFill>
                    <a:latin typeface="Georgia"/>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80</c:v>
              </c:pt>
              <c:pt idx="1">
                <c:v>110</c:v>
              </c:pt>
              <c:pt idx="2">
                <c:v>150</c:v>
              </c:pt>
              <c:pt idx="3">
                <c:v>200</c:v>
              </c:pt>
              <c:pt idx="4">
                <c:v>280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A0A7-4E79-802E-DF388484AD1F}"/>
            </c:ext>
          </c:extLst>
        </c:ser>
        <c:dLbls>
          <c:showLegendKey val="0"/>
          <c:showVal val="0"/>
          <c:showCatName val="0"/>
          <c:showSerName val="0"/>
          <c:showPercent val="0"/>
          <c:showBubbleSize val="0"/>
        </c:dLbls>
        <c:gapWidth val="150"/>
        <c:axId val="1"/>
        <c:axId val="2"/>
      </c:barChart>
      <c:catAx>
        <c:axId val="1"/>
        <c:scaling>
          <c:orientation val="minMax"/>
        </c:scaling>
        <c:delete val="0"/>
        <c:axPos val="b"/>
        <c:numFmt formatCode="General" sourceLinked="0"/>
        <c:majorTickMark val="none"/>
        <c:minorTickMark val="none"/>
        <c:tickLblPos val="nextTo"/>
        <c:spPr>
          <a:ln>
            <a:solidFill>
              <a:srgbClr val="5A5650"/>
            </a:solidFill>
          </a:ln>
        </c:spPr>
        <c:txPr>
          <a:bodyPr/>
          <a:lstStyle/>
          <a:p>
            <a:pPr>
              <a:defRPr sz="1400">
                <a:solidFill>
                  <a:srgbClr val="8A857D"/>
                </a:solidFill>
                <a:latin typeface="Georgia"/>
              </a:defRPr>
            </a:pPr>
            <a:endParaRPr lang="en-US"/>
          </a:p>
        </c:txPr>
        <c:crossAx val="2"/>
        <c:crosses val="autoZero"/>
        <c:auto val="1"/>
        <c:lblAlgn val="ctr"/>
        <c:lblOffset val="100"/>
        <c:noMultiLvlLbl val="1"/>
      </c:catAx>
      <c:valAx>
        <c:axId val="2"/>
        <c:scaling>
          <c:orientation val="minMax"/>
        </c:scaling>
        <c:delete val="0"/>
        <c:axPos val="l"/>
        <c:majorGridlines>
          <c:spPr>
            <a:ln w="6350">
              <a:solidFill>
                <a:srgbClr val="5A5650">
                  <a:alpha val="30000"/>
                </a:srgbClr>
              </a:solidFill>
            </a:ln>
          </c:spPr>
        </c:majorGridlines>
        <c:numFmt formatCode="General" sourceLinked="1"/>
        <c:majorTickMark val="out"/>
        <c:minorTickMark val="none"/>
        <c:tickLblPos val="nextTo"/>
        <c:spPr>
          <a:ln>
            <a:solidFill>
              <a:srgbClr val="5A5650"/>
            </a:solidFill>
          </a:ln>
        </c:spPr>
        <c:txPr>
          <a:bodyPr/>
          <a:lstStyle/>
          <a:p>
            <a:pPr>
              <a:defRPr sz="1400">
                <a:solidFill>
                  <a:srgbClr val="8A857D"/>
                </a:solidFill>
                <a:latin typeface="Georgia"/>
              </a:defRPr>
            </a:pPr>
            <a:endParaRPr lang="en-US"/>
          </a:p>
        </c:txPr>
        <c:crossAx val="1"/>
        <c:crosses val="autoZero"/>
        <c:crossBetween val="between"/>
      </c:valAx>
      <c:spPr>
        <a:noFill/>
      </c:spPr>
    </c:plotArea>
    <c:legend>
      <c:legendPos val="t"/>
      <c:overlay val="0"/>
      <c:txPr>
        <a:bodyPr/>
        <a:lstStyle/>
        <a:p>
          <a:pPr>
            <a:defRPr sz="1400">
              <a:solidFill>
                <a:srgbClr val="8A857D"/>
              </a:solidFill>
              <a:latin typeface="Georgia"/>
            </a:defRPr>
          </a:pPr>
          <a:endParaRPr lang="en-US"/>
        </a:p>
      </c:txPr>
    </c:legend>
    <c:plotVisOnly val="1"/>
    <c:dispBlanksAs val="zero"/>
    <c:showDLblsOverMax val="1"/>
  </c:chart>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02" name="BottomAccentLine"/>
          <p:cNvSpPr/>
          <p:nvPr userDrawn="1"/>
        </p:nvSpPr>
        <p:spPr>
          <a:xfrm>
            <a:off x="457200" y="6629400"/>
            <a:ext cx="11277600" cy="0"/>
          </a:xfrm>
          <a:prstGeom prst="line">
            <a:avLst/>
          </a:prstGeom>
          <a:ln w="6350">
            <a:solidFill>
              <a:srgbClr val="C9A84C">
                <a:alpha val="25000"/>
              </a:srgbClr>
            </a:solid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02" name="BottomAccentLine"/>
          <p:cNvSpPr/>
          <p:nvPr userDrawn="1"/>
        </p:nvSpPr>
        <p:spPr>
          <a:xfrm>
            <a:off x="457200" y="6629400"/>
            <a:ext cx="11277600" cy="0"/>
          </a:xfrm>
          <a:prstGeom prst="line">
            <a:avLst/>
          </a:prstGeom>
          <a:ln w="6350">
            <a:solidFill>
              <a:srgbClr val="C9A84C">
                <a:alpha val="25000"/>
              </a:srgbClr>
            </a:solidFill>
          </a:ln>
        </p:spPr>
        <p:txBody>
          <a:bodyPr/>
          <a:lstStyle/>
          <a:p>
            <a:endParaRPr lang="en-US"/>
          </a:p>
        </p:txBody>
      </p:sp>
      <p:sp>
        <p:nvSpPr>
          <p:cNvPr id="1010" name="TL_H0"/>
          <p:cNvSpPr/>
          <p:nvPr userDrawn="1"/>
        </p:nvSpPr>
        <p:spPr>
          <a:xfrm>
            <a:off x="152400" y="152400"/>
            <a:ext cx="609600" cy="0"/>
          </a:xfrm>
          <a:prstGeom prst="line">
            <a:avLst/>
          </a:prstGeom>
          <a:ln w="6350">
            <a:solidFill>
              <a:srgbClr val="C9A84C">
                <a:alpha val="30000"/>
              </a:srgbClr>
            </a:solidFill>
          </a:ln>
        </p:spPr>
        <p:txBody>
          <a:bodyPr/>
          <a:lstStyle/>
          <a:p>
            <a:endParaRPr lang="en-US"/>
          </a:p>
        </p:txBody>
      </p:sp>
      <p:sp>
        <p:nvSpPr>
          <p:cNvPr id="1011" name="TL_V0"/>
          <p:cNvSpPr/>
          <p:nvPr userDrawn="1"/>
        </p:nvSpPr>
        <p:spPr>
          <a:xfrm>
            <a:off x="152400" y="152400"/>
            <a:ext cx="0" cy="609600"/>
          </a:xfrm>
          <a:prstGeom prst="line">
            <a:avLst/>
          </a:prstGeom>
          <a:ln w="6350">
            <a:solidFill>
              <a:srgbClr val="C9A84C">
                <a:alpha val="30000"/>
              </a:srgbClr>
            </a:solidFill>
          </a:ln>
        </p:spPr>
        <p:txBody>
          <a:bodyPr/>
          <a:lstStyle/>
          <a:p>
            <a:endParaRPr lang="en-US"/>
          </a:p>
        </p:txBody>
      </p:sp>
      <p:sp>
        <p:nvSpPr>
          <p:cNvPr id="1012" name="TL_H1"/>
          <p:cNvSpPr/>
          <p:nvPr userDrawn="1"/>
        </p:nvSpPr>
        <p:spPr>
          <a:xfrm>
            <a:off x="304800" y="304800"/>
            <a:ext cx="457200" cy="0"/>
          </a:xfrm>
          <a:prstGeom prst="line">
            <a:avLst/>
          </a:prstGeom>
          <a:ln w="6350">
            <a:solidFill>
              <a:srgbClr val="C9A84C">
                <a:alpha val="30000"/>
              </a:srgbClr>
            </a:solidFill>
          </a:ln>
        </p:spPr>
        <p:txBody>
          <a:bodyPr/>
          <a:lstStyle/>
          <a:p>
            <a:endParaRPr lang="en-US"/>
          </a:p>
        </p:txBody>
      </p:sp>
      <p:sp>
        <p:nvSpPr>
          <p:cNvPr id="1013" name="TL_V1"/>
          <p:cNvSpPr/>
          <p:nvPr userDrawn="1"/>
        </p:nvSpPr>
        <p:spPr>
          <a:xfrm>
            <a:off x="304800" y="304800"/>
            <a:ext cx="0" cy="457200"/>
          </a:xfrm>
          <a:prstGeom prst="line">
            <a:avLst/>
          </a:prstGeom>
          <a:ln w="6350">
            <a:solidFill>
              <a:srgbClr val="C9A84C">
                <a:alpha val="30000"/>
              </a:srgbClr>
            </a:solidFill>
          </a:ln>
        </p:spPr>
        <p:txBody>
          <a:bodyPr/>
          <a:lstStyle/>
          <a:p>
            <a:endParaRPr lang="en-US"/>
          </a:p>
        </p:txBody>
      </p:sp>
      <p:sp>
        <p:nvSpPr>
          <p:cNvPr id="1014" name="TL_H2"/>
          <p:cNvSpPr/>
          <p:nvPr userDrawn="1"/>
        </p:nvSpPr>
        <p:spPr>
          <a:xfrm>
            <a:off x="457200" y="457200"/>
            <a:ext cx="304800" cy="0"/>
          </a:xfrm>
          <a:prstGeom prst="line">
            <a:avLst/>
          </a:prstGeom>
          <a:ln w="6350">
            <a:solidFill>
              <a:srgbClr val="C9A84C">
                <a:alpha val="30000"/>
              </a:srgbClr>
            </a:solidFill>
          </a:ln>
        </p:spPr>
        <p:txBody>
          <a:bodyPr/>
          <a:lstStyle/>
          <a:p>
            <a:endParaRPr lang="en-US"/>
          </a:p>
        </p:txBody>
      </p:sp>
      <p:sp>
        <p:nvSpPr>
          <p:cNvPr id="1015" name="TL_V2"/>
          <p:cNvSpPr/>
          <p:nvPr userDrawn="1"/>
        </p:nvSpPr>
        <p:spPr>
          <a:xfrm>
            <a:off x="457200" y="457200"/>
            <a:ext cx="0" cy="304800"/>
          </a:xfrm>
          <a:prstGeom prst="line">
            <a:avLst/>
          </a:prstGeom>
          <a:ln w="6350">
            <a:solidFill>
              <a:srgbClr val="C9A84C">
                <a:alpha val="30000"/>
              </a:srgbClr>
            </a:solidFill>
          </a:ln>
        </p:spPr>
        <p:txBody>
          <a:bodyPr/>
          <a:lstStyle/>
          <a:p>
            <a:endParaRPr lang="en-US"/>
          </a:p>
        </p:txBody>
      </p:sp>
      <p:sp>
        <p:nvSpPr>
          <p:cNvPr id="1020" name="BR_H0"/>
          <p:cNvSpPr/>
          <p:nvPr userDrawn="1"/>
        </p:nvSpPr>
        <p:spPr>
          <a:xfrm>
            <a:off x="11430000" y="6705600"/>
            <a:ext cx="609600" cy="0"/>
          </a:xfrm>
          <a:prstGeom prst="line">
            <a:avLst/>
          </a:prstGeom>
          <a:ln w="6350">
            <a:solidFill>
              <a:srgbClr val="C9A84C">
                <a:alpha val="30000"/>
              </a:srgbClr>
            </a:solidFill>
          </a:ln>
        </p:spPr>
        <p:txBody>
          <a:bodyPr/>
          <a:lstStyle/>
          <a:p>
            <a:endParaRPr lang="en-US"/>
          </a:p>
        </p:txBody>
      </p:sp>
      <p:sp>
        <p:nvSpPr>
          <p:cNvPr id="1021" name="BR_V0"/>
          <p:cNvSpPr/>
          <p:nvPr userDrawn="1"/>
        </p:nvSpPr>
        <p:spPr>
          <a:xfrm>
            <a:off x="12039600" y="6096000"/>
            <a:ext cx="0" cy="609600"/>
          </a:xfrm>
          <a:prstGeom prst="line">
            <a:avLst/>
          </a:prstGeom>
          <a:ln w="6350">
            <a:solidFill>
              <a:srgbClr val="C9A84C">
                <a:alpha val="30000"/>
              </a:srgbClr>
            </a:solidFill>
          </a:ln>
        </p:spPr>
        <p:txBody>
          <a:bodyPr/>
          <a:lstStyle/>
          <a:p>
            <a:endParaRPr lang="en-US"/>
          </a:p>
        </p:txBody>
      </p:sp>
      <p:sp>
        <p:nvSpPr>
          <p:cNvPr id="1022" name="BR_H1"/>
          <p:cNvSpPr/>
          <p:nvPr userDrawn="1"/>
        </p:nvSpPr>
        <p:spPr>
          <a:xfrm>
            <a:off x="11430000" y="6553200"/>
            <a:ext cx="457200" cy="0"/>
          </a:xfrm>
          <a:prstGeom prst="line">
            <a:avLst/>
          </a:prstGeom>
          <a:ln w="6350">
            <a:solidFill>
              <a:srgbClr val="C9A84C">
                <a:alpha val="30000"/>
              </a:srgbClr>
            </a:solidFill>
          </a:ln>
        </p:spPr>
        <p:txBody>
          <a:bodyPr/>
          <a:lstStyle/>
          <a:p>
            <a:endParaRPr lang="en-US"/>
          </a:p>
        </p:txBody>
      </p:sp>
      <p:sp>
        <p:nvSpPr>
          <p:cNvPr id="1023" name="BR_V1"/>
          <p:cNvSpPr/>
          <p:nvPr userDrawn="1"/>
        </p:nvSpPr>
        <p:spPr>
          <a:xfrm>
            <a:off x="11887200" y="6096000"/>
            <a:ext cx="0" cy="457200"/>
          </a:xfrm>
          <a:prstGeom prst="line">
            <a:avLst/>
          </a:prstGeom>
          <a:ln w="6350">
            <a:solidFill>
              <a:srgbClr val="C9A84C">
                <a:alpha val="30000"/>
              </a:srgbClr>
            </a:solidFill>
          </a:ln>
        </p:spPr>
        <p:txBody>
          <a:bodyPr/>
          <a:lstStyle/>
          <a:p>
            <a:endParaRPr lang="en-US"/>
          </a:p>
        </p:txBody>
      </p:sp>
      <p:sp>
        <p:nvSpPr>
          <p:cNvPr id="1024" name="BR_H2"/>
          <p:cNvSpPr/>
          <p:nvPr userDrawn="1"/>
        </p:nvSpPr>
        <p:spPr>
          <a:xfrm>
            <a:off x="11430000" y="6400800"/>
            <a:ext cx="304800" cy="0"/>
          </a:xfrm>
          <a:prstGeom prst="line">
            <a:avLst/>
          </a:prstGeom>
          <a:ln w="6350">
            <a:solidFill>
              <a:srgbClr val="C9A84C">
                <a:alpha val="30000"/>
              </a:srgbClr>
            </a:solidFill>
          </a:ln>
        </p:spPr>
        <p:txBody>
          <a:bodyPr/>
          <a:lstStyle/>
          <a:p>
            <a:endParaRPr lang="en-US"/>
          </a:p>
        </p:txBody>
      </p:sp>
      <p:sp>
        <p:nvSpPr>
          <p:cNvPr id="1025" name="BR_V2"/>
          <p:cNvSpPr/>
          <p:nvPr userDrawn="1"/>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02" name="BottomAccentLine"/>
          <p:cNvSpPr/>
          <p:nvPr userDrawn="1"/>
        </p:nvSpPr>
        <p:spPr>
          <a:xfrm>
            <a:off x="457200" y="6629400"/>
            <a:ext cx="11277600" cy="0"/>
          </a:xfrm>
          <a:prstGeom prst="line">
            <a:avLst/>
          </a:prstGeom>
          <a:ln w="6350">
            <a:solidFill>
              <a:srgbClr val="C9A84C">
                <a:alpha val="25000"/>
              </a:srgbClr>
            </a:solidFill>
          </a:ln>
        </p:spPr>
        <p:txBody>
          <a:bodyPr/>
          <a:lstStyle/>
          <a:p>
            <a:endParaRPr lang="en-US"/>
          </a:p>
        </p:txBody>
      </p:sp>
      <p:sp>
        <p:nvSpPr>
          <p:cNvPr id="1010" name="TL_H0"/>
          <p:cNvSpPr/>
          <p:nvPr userDrawn="1"/>
        </p:nvSpPr>
        <p:spPr>
          <a:xfrm>
            <a:off x="152400" y="152400"/>
            <a:ext cx="609600" cy="0"/>
          </a:xfrm>
          <a:prstGeom prst="line">
            <a:avLst/>
          </a:prstGeom>
          <a:ln w="6350">
            <a:solidFill>
              <a:srgbClr val="C9A84C">
                <a:alpha val="30000"/>
              </a:srgbClr>
            </a:solidFill>
          </a:ln>
        </p:spPr>
        <p:txBody>
          <a:bodyPr/>
          <a:lstStyle/>
          <a:p>
            <a:endParaRPr lang="en-US"/>
          </a:p>
        </p:txBody>
      </p:sp>
      <p:sp>
        <p:nvSpPr>
          <p:cNvPr id="1011" name="TL_V0"/>
          <p:cNvSpPr/>
          <p:nvPr userDrawn="1"/>
        </p:nvSpPr>
        <p:spPr>
          <a:xfrm>
            <a:off x="152400" y="152400"/>
            <a:ext cx="0" cy="609600"/>
          </a:xfrm>
          <a:prstGeom prst="line">
            <a:avLst/>
          </a:prstGeom>
          <a:ln w="6350">
            <a:solidFill>
              <a:srgbClr val="C9A84C">
                <a:alpha val="30000"/>
              </a:srgbClr>
            </a:solidFill>
          </a:ln>
        </p:spPr>
        <p:txBody>
          <a:bodyPr/>
          <a:lstStyle/>
          <a:p>
            <a:endParaRPr lang="en-US"/>
          </a:p>
        </p:txBody>
      </p:sp>
      <p:sp>
        <p:nvSpPr>
          <p:cNvPr id="1012" name="TL_H1"/>
          <p:cNvSpPr/>
          <p:nvPr userDrawn="1"/>
        </p:nvSpPr>
        <p:spPr>
          <a:xfrm>
            <a:off x="304800" y="304800"/>
            <a:ext cx="457200" cy="0"/>
          </a:xfrm>
          <a:prstGeom prst="line">
            <a:avLst/>
          </a:prstGeom>
          <a:ln w="6350">
            <a:solidFill>
              <a:srgbClr val="C9A84C">
                <a:alpha val="30000"/>
              </a:srgbClr>
            </a:solidFill>
          </a:ln>
        </p:spPr>
        <p:txBody>
          <a:bodyPr/>
          <a:lstStyle/>
          <a:p>
            <a:endParaRPr lang="en-US"/>
          </a:p>
        </p:txBody>
      </p:sp>
      <p:sp>
        <p:nvSpPr>
          <p:cNvPr id="1013" name="TL_V1"/>
          <p:cNvSpPr/>
          <p:nvPr userDrawn="1"/>
        </p:nvSpPr>
        <p:spPr>
          <a:xfrm>
            <a:off x="304800" y="304800"/>
            <a:ext cx="0" cy="457200"/>
          </a:xfrm>
          <a:prstGeom prst="line">
            <a:avLst/>
          </a:prstGeom>
          <a:ln w="6350">
            <a:solidFill>
              <a:srgbClr val="C9A84C">
                <a:alpha val="30000"/>
              </a:srgbClr>
            </a:solidFill>
          </a:ln>
        </p:spPr>
        <p:txBody>
          <a:bodyPr/>
          <a:lstStyle/>
          <a:p>
            <a:endParaRPr lang="en-US"/>
          </a:p>
        </p:txBody>
      </p:sp>
      <p:sp>
        <p:nvSpPr>
          <p:cNvPr id="1014" name="TL_H2"/>
          <p:cNvSpPr/>
          <p:nvPr userDrawn="1"/>
        </p:nvSpPr>
        <p:spPr>
          <a:xfrm>
            <a:off x="457200" y="457200"/>
            <a:ext cx="304800" cy="0"/>
          </a:xfrm>
          <a:prstGeom prst="line">
            <a:avLst/>
          </a:prstGeom>
          <a:ln w="6350">
            <a:solidFill>
              <a:srgbClr val="C9A84C">
                <a:alpha val="30000"/>
              </a:srgbClr>
            </a:solidFill>
          </a:ln>
        </p:spPr>
        <p:txBody>
          <a:bodyPr/>
          <a:lstStyle/>
          <a:p>
            <a:endParaRPr lang="en-US"/>
          </a:p>
        </p:txBody>
      </p:sp>
      <p:sp>
        <p:nvSpPr>
          <p:cNvPr id="1015" name="TL_V2"/>
          <p:cNvSpPr/>
          <p:nvPr userDrawn="1"/>
        </p:nvSpPr>
        <p:spPr>
          <a:xfrm>
            <a:off x="457200" y="457200"/>
            <a:ext cx="0" cy="304800"/>
          </a:xfrm>
          <a:prstGeom prst="line">
            <a:avLst/>
          </a:prstGeom>
          <a:ln w="6350">
            <a:solidFill>
              <a:srgbClr val="C9A84C">
                <a:alpha val="30000"/>
              </a:srgbClr>
            </a:solidFill>
          </a:ln>
        </p:spPr>
        <p:txBody>
          <a:bodyPr/>
          <a:lstStyle/>
          <a:p>
            <a:endParaRPr lang="en-US"/>
          </a:p>
        </p:txBody>
      </p:sp>
      <p:sp>
        <p:nvSpPr>
          <p:cNvPr id="1016" name="TR_Step0"/>
          <p:cNvSpPr/>
          <p:nvPr userDrawn="1"/>
        </p:nvSpPr>
        <p:spPr>
          <a:xfrm>
            <a:off x="11430000" y="152400"/>
            <a:ext cx="609600" cy="0"/>
          </a:xfrm>
          <a:prstGeom prst="line">
            <a:avLst/>
          </a:prstGeom>
          <a:ln w="6350">
            <a:solidFill>
              <a:srgbClr val="C9A84C">
                <a:alpha val="30000"/>
              </a:srgbClr>
            </a:solidFill>
          </a:ln>
        </p:spPr>
        <p:txBody>
          <a:bodyPr/>
          <a:lstStyle/>
          <a:p>
            <a:endParaRPr lang="en-US"/>
          </a:p>
        </p:txBody>
      </p:sp>
      <p:sp>
        <p:nvSpPr>
          <p:cNvPr id="1017" name="TR_Step1"/>
          <p:cNvSpPr/>
          <p:nvPr userDrawn="1"/>
        </p:nvSpPr>
        <p:spPr>
          <a:xfrm>
            <a:off x="11582400" y="304800"/>
            <a:ext cx="457200" cy="0"/>
          </a:xfrm>
          <a:prstGeom prst="line">
            <a:avLst/>
          </a:prstGeom>
          <a:ln w="6350">
            <a:solidFill>
              <a:srgbClr val="C9A84C">
                <a:alpha val="30000"/>
              </a:srgbClr>
            </a:solidFill>
          </a:ln>
        </p:spPr>
        <p:txBody>
          <a:bodyPr/>
          <a:lstStyle/>
          <a:p>
            <a:endParaRPr lang="en-US"/>
          </a:p>
        </p:txBody>
      </p:sp>
      <p:sp>
        <p:nvSpPr>
          <p:cNvPr id="1018" name="TR_Step2"/>
          <p:cNvSpPr/>
          <p:nvPr userDrawn="1"/>
        </p:nvSpPr>
        <p:spPr>
          <a:xfrm>
            <a:off x="11734800" y="457200"/>
            <a:ext cx="304800" cy="0"/>
          </a:xfrm>
          <a:prstGeom prst="line">
            <a:avLst/>
          </a:prstGeom>
          <a:ln w="6350">
            <a:solidFill>
              <a:srgbClr val="C9A84C">
                <a:alpha val="30000"/>
              </a:srgbClr>
            </a:solidFill>
          </a:ln>
        </p:spPr>
        <p:txBody>
          <a:bodyPr/>
          <a:lstStyle/>
          <a:p>
            <a:endParaRPr lang="en-US"/>
          </a:p>
        </p:txBody>
      </p:sp>
      <p:sp>
        <p:nvSpPr>
          <p:cNvPr id="1019" name="TR_Cap"/>
          <p:cNvSpPr/>
          <p:nvPr userDrawn="1"/>
        </p:nvSpPr>
        <p:spPr>
          <a:xfrm>
            <a:off x="12039600" y="152400"/>
            <a:ext cx="0" cy="304800"/>
          </a:xfrm>
          <a:prstGeom prst="line">
            <a:avLst/>
          </a:prstGeom>
          <a:ln w="6350">
            <a:solidFill>
              <a:srgbClr val="C9A84C">
                <a:alpha val="30000"/>
              </a:srgbClr>
            </a:solidFill>
          </a:ln>
        </p:spPr>
        <p:txBody>
          <a:bodyPr/>
          <a:lstStyle/>
          <a:p>
            <a:endParaRPr lang="en-US"/>
          </a:p>
        </p:txBody>
      </p:sp>
      <p:sp>
        <p:nvSpPr>
          <p:cNvPr id="1020" name="TR_Diamond"/>
          <p:cNvSpPr/>
          <p:nvPr userDrawn="1"/>
        </p:nvSpPr>
        <p:spPr>
          <a:xfrm>
            <a:off x="11674800" y="427200"/>
            <a:ext cx="60000" cy="60000"/>
          </a:xfrm>
          <a:prstGeom prst="diamond">
            <a:avLst/>
          </a:prstGeom>
          <a:noFill/>
          <a:ln w="6350">
            <a:solidFill>
              <a:srgbClr val="C9A84C">
                <a:alpha val="30000"/>
              </a:srgbClr>
            </a:solidFill>
          </a:ln>
        </p:spPr>
        <p:txBody>
          <a:bodyPr/>
          <a:lstStyle/>
          <a:p>
            <a:endParaRPr lang="en-US"/>
          </a:p>
        </p:txBody>
      </p:sp>
      <p:sp>
        <p:nvSpPr>
          <p:cNvPr id="1021" name="BL_Dia1"/>
          <p:cNvSpPr/>
          <p:nvPr userDrawn="1"/>
        </p:nvSpPr>
        <p:spPr>
          <a:xfrm>
            <a:off x="228600" y="6515100"/>
            <a:ext cx="114300" cy="114300"/>
          </a:xfrm>
          <a:prstGeom prst="diamond">
            <a:avLst/>
          </a:prstGeom>
          <a:noFill/>
          <a:ln w="6350">
            <a:solidFill>
              <a:srgbClr val="C9A84C">
                <a:alpha val="30000"/>
              </a:srgbClr>
            </a:solidFill>
          </a:ln>
        </p:spPr>
        <p:txBody>
          <a:bodyPr/>
          <a:lstStyle/>
          <a:p>
            <a:endParaRPr lang="en-US"/>
          </a:p>
        </p:txBody>
      </p:sp>
      <p:sp>
        <p:nvSpPr>
          <p:cNvPr id="1022" name="BL_Dia2"/>
          <p:cNvSpPr/>
          <p:nvPr userDrawn="1"/>
        </p:nvSpPr>
        <p:spPr>
          <a:xfrm>
            <a:off x="137160" y="6423660"/>
            <a:ext cx="76200" cy="76200"/>
          </a:xfrm>
          <a:prstGeom prst="diamond">
            <a:avLst/>
          </a:prstGeom>
          <a:noFill/>
          <a:ln w="6350">
            <a:solidFill>
              <a:srgbClr val="C9A84C">
                <a:alpha val="30000"/>
              </a:srgbClr>
            </a:solidFill>
          </a:ln>
        </p:spPr>
        <p:txBody>
          <a:bodyPr/>
          <a:lstStyle/>
          <a:p>
            <a:endParaRPr lang="en-US"/>
          </a:p>
        </p:txBody>
      </p:sp>
      <p:sp>
        <p:nvSpPr>
          <p:cNvPr id="1023" name="BL_Dia3"/>
          <p:cNvSpPr/>
          <p:nvPr userDrawn="1"/>
        </p:nvSpPr>
        <p:spPr>
          <a:xfrm>
            <a:off x="320040" y="6423660"/>
            <a:ext cx="76200" cy="76200"/>
          </a:xfrm>
          <a:prstGeom prst="diamond">
            <a:avLst/>
          </a:prstGeom>
          <a:noFill/>
          <a:ln w="6350">
            <a:solidFill>
              <a:srgbClr val="C9A84C">
                <a:alpha val="30000"/>
              </a:srgbClr>
            </a:solidFill>
          </a:ln>
        </p:spPr>
        <p:txBody>
          <a:bodyPr/>
          <a:lstStyle/>
          <a:p>
            <a:endParaRPr lang="en-US"/>
          </a:p>
        </p:txBody>
      </p:sp>
      <p:sp>
        <p:nvSpPr>
          <p:cNvPr id="1024" name="BL_Line"/>
          <p:cNvSpPr/>
          <p:nvPr userDrawn="1"/>
        </p:nvSpPr>
        <p:spPr>
          <a:xfrm>
            <a:off x="381000" y="6572250"/>
            <a:ext cx="457200" cy="0"/>
          </a:xfrm>
          <a:prstGeom prst="line">
            <a:avLst/>
          </a:prstGeom>
          <a:ln w="6350">
            <a:solidFill>
              <a:srgbClr val="C9A84C">
                <a:alpha val="30000"/>
              </a:srgbClr>
            </a:solidFill>
          </a:ln>
        </p:spPr>
        <p:txBody>
          <a:bodyPr/>
          <a:lstStyle/>
          <a:p>
            <a:endParaRPr lang="en-US"/>
          </a:p>
        </p:txBody>
      </p:sp>
      <p:sp>
        <p:nvSpPr>
          <p:cNvPr id="1025" name="BL_Tick"/>
          <p:cNvSpPr/>
          <p:nvPr userDrawn="1"/>
        </p:nvSpPr>
        <p:spPr>
          <a:xfrm>
            <a:off x="838200" y="6534150"/>
            <a:ext cx="0" cy="76200"/>
          </a:xfrm>
          <a:prstGeom prst="line">
            <a:avLst/>
          </a:prstGeom>
          <a:ln w="6350">
            <a:solidFill>
              <a:srgbClr val="C9A84C">
                <a:alpha val="30000"/>
              </a:srgbClr>
            </a:solidFill>
          </a:ln>
        </p:spPr>
        <p:txBody>
          <a:bodyPr/>
          <a:lstStyle/>
          <a:p>
            <a:endParaRPr lang="en-US"/>
          </a:p>
        </p:txBody>
      </p:sp>
      <p:sp>
        <p:nvSpPr>
          <p:cNvPr id="1026" name="BR_Line0"/>
          <p:cNvSpPr/>
          <p:nvPr userDrawn="1"/>
        </p:nvSpPr>
        <p:spPr>
          <a:xfrm>
            <a:off x="11430000" y="6705600"/>
            <a:ext cx="609600" cy="0"/>
          </a:xfrm>
          <a:prstGeom prst="line">
            <a:avLst/>
          </a:prstGeom>
          <a:ln w="6350">
            <a:solidFill>
              <a:srgbClr val="C9A84C">
                <a:alpha val="30000"/>
              </a:srgbClr>
            </a:solidFill>
          </a:ln>
        </p:spPr>
        <p:txBody>
          <a:bodyPr/>
          <a:lstStyle/>
          <a:p>
            <a:endParaRPr lang="en-US"/>
          </a:p>
        </p:txBody>
      </p:sp>
      <p:sp>
        <p:nvSpPr>
          <p:cNvPr id="1027" name="BR_Line1"/>
          <p:cNvSpPr/>
          <p:nvPr userDrawn="1"/>
        </p:nvSpPr>
        <p:spPr>
          <a:xfrm>
            <a:off x="11582400" y="6629400"/>
            <a:ext cx="457200" cy="0"/>
          </a:xfrm>
          <a:prstGeom prst="line">
            <a:avLst/>
          </a:prstGeom>
          <a:ln w="6350">
            <a:solidFill>
              <a:srgbClr val="C9A84C">
                <a:alpha val="30000"/>
              </a:srgbClr>
            </a:solidFill>
          </a:ln>
        </p:spPr>
        <p:txBody>
          <a:bodyPr/>
          <a:lstStyle/>
          <a:p>
            <a:endParaRPr lang="en-US"/>
          </a:p>
        </p:txBody>
      </p:sp>
      <p:sp>
        <p:nvSpPr>
          <p:cNvPr id="1028" name="BR_Line2"/>
          <p:cNvSpPr/>
          <p:nvPr userDrawn="1"/>
        </p:nvSpPr>
        <p:spPr>
          <a:xfrm>
            <a:off x="11734800" y="6553200"/>
            <a:ext cx="304800" cy="0"/>
          </a:xfrm>
          <a:prstGeom prst="line">
            <a:avLst/>
          </a:prstGeom>
          <a:ln w="6350">
            <a:solidFill>
              <a:srgbClr val="C9A84C">
                <a:alpha val="30000"/>
              </a:srgbClr>
            </a:solidFill>
          </a:ln>
        </p:spPr>
        <p:txBody>
          <a:bodyPr/>
          <a:lstStyle/>
          <a:p>
            <a:endParaRPr lang="en-US"/>
          </a:p>
        </p:txBody>
      </p:sp>
      <p:sp>
        <p:nvSpPr>
          <p:cNvPr id="1029" name="BR_Pillar"/>
          <p:cNvSpPr/>
          <p:nvPr userDrawn="1"/>
        </p:nvSpPr>
        <p:spPr>
          <a:xfrm>
            <a:off x="12039600" y="6553200"/>
            <a:ext cx="0" cy="152400"/>
          </a:xfrm>
          <a:prstGeom prst="line">
            <a:avLst/>
          </a:prstGeom>
          <a:ln w="6350">
            <a:solidFill>
              <a:srgbClr val="C9A84C">
                <a:alpha val="30000"/>
              </a:srgbClr>
            </a:solidFill>
          </a:ln>
        </p:spPr>
        <p:txBody>
          <a:bodyPr/>
          <a:lstStyle/>
          <a:p>
            <a:endParaRPr lang="en-US"/>
          </a:p>
        </p:txBody>
      </p:sp>
      <p:sp>
        <p:nvSpPr>
          <p:cNvPr id="1030" name="BR_Diamond"/>
          <p:cNvSpPr/>
          <p:nvPr userDrawn="1"/>
        </p:nvSpPr>
        <p:spPr>
          <a:xfrm>
            <a:off x="12001500" y="6461760"/>
            <a:ext cx="76200" cy="762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50" name="TickerBar"/>
          <p:cNvSpPr/>
          <p:nvPr userDrawn="1"/>
        </p:nvSpPr>
        <p:spPr>
          <a:xfrm>
            <a:off x="0" y="6629400"/>
            <a:ext cx="12192000" cy="228600"/>
          </a:xfrm>
          <a:prstGeom prst="rect">
            <a:avLst/>
          </a:prstGeom>
          <a:solidFill>
            <a:srgbClr val="060606"/>
          </a:solidFill>
          <a:ln>
            <a:noFill/>
          </a:ln>
        </p:spPr>
        <p:txBody>
          <a:bodyPr/>
          <a:lstStyle/>
          <a:p>
            <a:endParaRPr lang="en-US"/>
          </a:p>
        </p:txBody>
      </p:sp>
      <p:sp>
        <p:nvSpPr>
          <p:cNvPr id="1051" name="TickerTopLine"/>
          <p:cNvSpPr/>
          <p:nvPr userDrawn="1"/>
        </p:nvSpPr>
        <p:spPr>
          <a:xfrm>
            <a:off x="0" y="6629400"/>
            <a:ext cx="12192000" cy="0"/>
          </a:xfrm>
          <a:prstGeom prst="line">
            <a:avLst/>
          </a:prstGeom>
          <a:ln w="6350">
            <a:solidFill>
              <a:srgbClr val="C9A84C">
                <a:alpha val="15000"/>
              </a:srgbClr>
            </a:solidFill>
          </a:ln>
        </p:spPr>
        <p:txBody>
          <a:bodyPr/>
          <a:lstStyle/>
          <a:p>
            <a:endParaRPr lang="en-US"/>
          </a:p>
        </p:txBody>
      </p:sp>
      <p:sp>
        <p:nvSpPr>
          <p:cNvPr id="1052" name="TickerText"/>
          <p:cNvSpPr txBox="1"/>
          <p:nvPr userDrawn="1"/>
        </p:nvSpPr>
        <p:spPr>
          <a:xfrm>
            <a:off x="304800" y="6629400"/>
            <a:ext cx="11582400" cy="228600"/>
          </a:xfrm>
          <a:prstGeom prst="rect">
            <a:avLst/>
          </a:prstGeom>
          <a:noFill/>
          <a:ln>
            <a:noFill/>
          </a:ln>
        </p:spPr>
        <p:txBody>
          <a:bodyPr anchor="ctr"/>
          <a:lstStyle/>
          <a:p>
            <a:pPr algn="ctr">
              <a:buNone/>
            </a:pPr>
            <a:r>
              <a:rPr lang="en-US" sz="800" spc="200" dirty="0">
                <a:solidFill>
                  <a:srgbClr val="C9A84C">
                    <a:alpha val="40000"/>
                  </a:srgbClr>
                </a:solidFill>
                <a:latin typeface="Consolas"/>
              </a:rPr>
              <a:t>BLOCK #881,247  •  625 EH/s  •  MEMPOOL 14,208 TX  •  DIFFICULTY 85.63T  •  21M SUPPLY  •  NEXT HALVING 2028  •  19.6M MINED  •  ~3,400 NODES</a:t>
            </a:r>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50" name="TickerBar"/>
          <p:cNvSpPr/>
          <p:nvPr userDrawn="1"/>
        </p:nvSpPr>
        <p:spPr>
          <a:xfrm>
            <a:off x="0" y="6629400"/>
            <a:ext cx="12192000" cy="228600"/>
          </a:xfrm>
          <a:prstGeom prst="rect">
            <a:avLst/>
          </a:prstGeom>
          <a:solidFill>
            <a:srgbClr val="060606"/>
          </a:solidFill>
          <a:ln>
            <a:noFill/>
          </a:ln>
        </p:spPr>
        <p:txBody>
          <a:bodyPr/>
          <a:lstStyle/>
          <a:p>
            <a:endParaRPr lang="en-US"/>
          </a:p>
        </p:txBody>
      </p:sp>
      <p:sp>
        <p:nvSpPr>
          <p:cNvPr id="1051" name="TickerTopLine"/>
          <p:cNvSpPr/>
          <p:nvPr userDrawn="1"/>
        </p:nvSpPr>
        <p:spPr>
          <a:xfrm>
            <a:off x="0" y="6629400"/>
            <a:ext cx="12192000" cy="0"/>
          </a:xfrm>
          <a:prstGeom prst="line">
            <a:avLst/>
          </a:prstGeom>
          <a:ln w="6350">
            <a:solidFill>
              <a:srgbClr val="C9A84C">
                <a:alpha val="15000"/>
              </a:srgbClr>
            </a:solidFill>
          </a:ln>
        </p:spPr>
        <p:txBody>
          <a:bodyPr/>
          <a:lstStyle/>
          <a:p>
            <a:endParaRPr lang="en-US"/>
          </a:p>
        </p:txBody>
      </p:sp>
      <p:sp>
        <p:nvSpPr>
          <p:cNvPr id="1052" name="TickerText"/>
          <p:cNvSpPr txBox="1"/>
          <p:nvPr userDrawn="1"/>
        </p:nvSpPr>
        <p:spPr>
          <a:xfrm>
            <a:off x="304800" y="6629400"/>
            <a:ext cx="11582400" cy="228600"/>
          </a:xfrm>
          <a:prstGeom prst="rect">
            <a:avLst/>
          </a:prstGeom>
          <a:noFill/>
          <a:ln>
            <a:noFill/>
          </a:ln>
        </p:spPr>
        <p:txBody>
          <a:bodyPr anchor="ctr"/>
          <a:lstStyle/>
          <a:p>
            <a:pPr algn="ctr">
              <a:buNone/>
            </a:pPr>
            <a:r>
              <a:rPr lang="en-US" sz="800" spc="200" dirty="0">
                <a:solidFill>
                  <a:srgbClr val="C9A84C">
                    <a:alpha val="40000"/>
                  </a:srgbClr>
                </a:solidFill>
                <a:latin typeface="Consolas"/>
              </a:rPr>
              <a:t>0xA3F7 9B2E 1D4C 8F06 • 0xE5A1 C8D3 F7B2 4690 • 0x7E91 3FA8 2C5D 0B67 • 0x1B84 6DE0 F293 5A7C • 0xC4D8 71F5 0E6A 39B2 • 0x58A2 C7E1 3D09 F684 • 0x9F3B 4E27 D186 A0C5 • 0x2D71 E803 6FAC B549</a:t>
            </a:r>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3.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18" Type="http://schemas.openxmlformats.org/officeDocument/2006/relationships/image" Target="../media/image1.png"/><Relationship Id="rId3" Type="http://schemas.openxmlformats.org/officeDocument/2006/relationships/image" Target="../media/image10.svg"/><Relationship Id="rId21" Type="http://schemas.openxmlformats.org/officeDocument/2006/relationships/image" Target="../media/image4.sv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4.svg"/><Relationship Id="rId25" Type="http://schemas.openxmlformats.org/officeDocument/2006/relationships/image" Target="../media/image28.sv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svg"/><Relationship Id="rId24" Type="http://schemas.openxmlformats.org/officeDocument/2006/relationships/image" Target="../media/image27.png"/><Relationship Id="rId5" Type="http://schemas.openxmlformats.org/officeDocument/2006/relationships/image" Target="../media/image12.svg"/><Relationship Id="rId15" Type="http://schemas.openxmlformats.org/officeDocument/2006/relationships/image" Target="../media/image22.svg"/><Relationship Id="rId23" Type="http://schemas.openxmlformats.org/officeDocument/2006/relationships/image" Target="../media/image26.svg"/><Relationship Id="rId10" Type="http://schemas.openxmlformats.org/officeDocument/2006/relationships/image" Target="../media/image17.png"/><Relationship Id="rId19" Type="http://schemas.openxmlformats.org/officeDocument/2006/relationships/image" Target="../media/image2.sv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png"/><Relationship Id="rId22"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6"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10" name="Overline"/>
          <p:cNvSpPr txBox="1"/>
          <p:nvPr/>
        </p:nvSpPr>
        <p:spPr>
          <a:xfrm>
            <a:off x="1828800" y="1371600"/>
            <a:ext cx="8534400" cy="304800"/>
          </a:xfrm>
          <a:prstGeom prst="rect">
            <a:avLst/>
          </a:prstGeom>
          <a:noFill/>
          <a:ln>
            <a:noFill/>
          </a:ln>
        </p:spPr>
        <p:txBody>
          <a:bodyPr anchor="ctr" anchorCtr="0"/>
          <a:lstStyle/>
          <a:p>
            <a:pPr algn="ctr">
              <a:buNone/>
            </a:pPr>
            <a:r>
              <a:rPr lang="en-US" sz="1100" spc="600" dirty="0">
                <a:solidFill>
                  <a:srgbClr val="C9A84C"/>
                </a:solidFill>
                <a:latin typeface="Georgia"/>
              </a:rPr>
              <a:t>PRESENTATION TITLE</a:t>
            </a:r>
          </a:p>
        </p:txBody>
      </p:sp>
      <p:sp>
        <p:nvSpPr>
          <p:cNvPr id="11" name="Divider1"/>
          <p:cNvSpPr/>
          <p:nvPr/>
        </p:nvSpPr>
        <p:spPr>
          <a:xfrm>
            <a:off x="5334000" y="1752600"/>
            <a:ext cx="1524000" cy="0"/>
          </a:xfrm>
          <a:prstGeom prst="line">
            <a:avLst/>
          </a:prstGeom>
          <a:ln w="12700">
            <a:solidFill>
              <a:srgbClr val="FFD700"/>
            </a:solidFill>
          </a:ln>
        </p:spPr>
        <p:txBody>
          <a:bodyPr/>
          <a:lstStyle/>
          <a:p>
            <a:endParaRPr lang="en-US"/>
          </a:p>
        </p:txBody>
      </p:sp>
      <p:sp>
        <p:nvSpPr>
          <p:cNvPr id="12" name="MainTitle"/>
          <p:cNvSpPr txBox="1"/>
          <p:nvPr/>
        </p:nvSpPr>
        <p:spPr>
          <a:xfrm>
            <a:off x="914400" y="1905000"/>
            <a:ext cx="10363200" cy="1143000"/>
          </a:xfrm>
          <a:prstGeom prst="rect">
            <a:avLst/>
          </a:prstGeom>
          <a:noFill/>
          <a:ln>
            <a:noFill/>
          </a:ln>
        </p:spPr>
        <p:txBody>
          <a:bodyPr anchor="ctr" anchorCtr="0"/>
          <a:lstStyle/>
          <a:p>
            <a:pPr algn="ctr">
              <a:buNone/>
            </a:pPr>
            <a:r>
              <a:rPr lang="en-US" sz="4400" spc="100" dirty="0">
                <a:solidFill>
                  <a:srgbClr val="E8E4DC"/>
                </a:solidFill>
                <a:latin typeface="Georgia"/>
              </a:rPr>
              <a:t>Presentation Title</a:t>
            </a:r>
          </a:p>
        </p:txBody>
      </p:sp>
      <p:sp>
        <p:nvSpPr>
          <p:cNvPr id="13" name="Subtitle"/>
          <p:cNvSpPr txBox="1"/>
          <p:nvPr/>
        </p:nvSpPr>
        <p:spPr>
          <a:xfrm>
            <a:off x="1828800" y="3124200"/>
            <a:ext cx="8534400" cy="457200"/>
          </a:xfrm>
          <a:prstGeom prst="rect">
            <a:avLst/>
          </a:prstGeom>
          <a:noFill/>
          <a:ln>
            <a:noFill/>
          </a:ln>
        </p:spPr>
        <p:txBody>
          <a:bodyPr anchor="t" anchorCtr="0"/>
          <a:lstStyle/>
          <a:p>
            <a:pPr algn="ctr">
              <a:buNone/>
            </a:pPr>
            <a:r>
              <a:rPr lang="en-US" sz="1800" dirty="0">
                <a:solidFill>
                  <a:srgbClr val="8A857D"/>
                </a:solidFill>
                <a:latin typeface="Georgia"/>
              </a:rPr>
              <a:t>Subtitle or description goes here</a:t>
            </a:r>
          </a:p>
        </p:txBody>
      </p:sp>
      <p:sp>
        <p:nvSpPr>
          <p:cNvPr id="14" name="Meta"/>
          <p:cNvSpPr txBox="1"/>
          <p:nvPr/>
        </p:nvSpPr>
        <p:spPr>
          <a:xfrm>
            <a:off x="1828800" y="4572000"/>
            <a:ext cx="8534400" cy="304800"/>
          </a:xfrm>
          <a:prstGeom prst="rect">
            <a:avLst/>
          </a:prstGeom>
          <a:noFill/>
          <a:ln>
            <a:noFill/>
          </a:ln>
        </p:spPr>
        <p:txBody>
          <a:bodyPr anchor="ctr" anchorCtr="0"/>
          <a:lstStyle/>
          <a:p>
            <a:pPr algn="ctr">
              <a:buNone/>
            </a:pPr>
            <a:r>
              <a:rPr lang="en-US" sz="1100" spc="300" dirty="0">
                <a:solidFill>
                  <a:srgbClr val="5A5650"/>
                </a:solidFill>
                <a:latin typeface="Georgia"/>
              </a:rPr>
              <a:t>AUTHOR NAME  •  FEBRUARY 2026</a:t>
            </a:r>
          </a:p>
        </p:txBody>
      </p:sp>
      <p:sp>
        <p:nvSpPr>
          <p:cNvPr id="15" name="HashWatermark"/>
          <p:cNvSpPr txBox="1"/>
          <p:nvPr/>
        </p:nvSpPr>
        <p:spPr>
          <a:xfrm>
            <a:off x="457200" y="6172200"/>
            <a:ext cx="11277600" cy="228600"/>
          </a:xfrm>
          <a:prstGeom prst="rect">
            <a:avLst/>
          </a:prstGeom>
          <a:noFill/>
          <a:ln>
            <a:noFill/>
          </a:ln>
        </p:spPr>
        <p:txBody>
          <a:bodyPr anchor="ctr" anchorCtr="0"/>
          <a:lstStyle/>
          <a:p>
            <a:pPr algn="ctr">
              <a:buNone/>
            </a:pPr>
            <a:r>
              <a:rPr lang="en-US" sz="800" spc="200" dirty="0">
                <a:solidFill>
                  <a:srgbClr val="E8E4DC">
                    <a:alpha val="10000"/>
                  </a:srgbClr>
                </a:solidFill>
                <a:latin typeface="Consolas"/>
              </a:rPr>
              <a:t>0x7A3F9B2E1D4C8F06  •  SHA-256  •  BLOCK #881247  •  0xE5A1C8D3F7B24690</a:t>
            </a:r>
          </a:p>
        </p:txBody>
      </p:sp>
      <p:sp>
        <p:nvSpPr>
          <p:cNvPr id="900" name="Corner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orner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orner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orner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orner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orner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orner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orner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orner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4002228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5"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6" name="EncryptedBg"/>
          <p:cNvSpPr txBox="1"/>
          <p:nvPr/>
        </p:nvSpPr>
        <p:spPr>
          <a:xfrm>
            <a:off x="5486400" y="457200"/>
            <a:ext cx="6400800" cy="5943600"/>
          </a:xfrm>
          <a:prstGeom prst="rect">
            <a:avLst/>
          </a:prstGeom>
          <a:noFill/>
          <a:ln>
            <a:noFill/>
          </a:ln>
        </p:spPr>
        <p:txBody>
          <a:bodyPr wrap="none" anchor="t"/>
          <a:lstStyle/>
          <a:p>
            <a:pPr algn="l">
              <a:lnSpc>
                <a:spcPts val="1800"/>
              </a:lnSpc>
              <a:buNone/>
            </a:pPr>
            <a:r>
              <a:rPr lang="en-US" sz="900" spc="200" dirty="0">
                <a:solidFill>
                  <a:srgbClr val="C9A84C">
                    <a:alpha val="6000"/>
                  </a:srgbClr>
                </a:solidFill>
                <a:latin typeface="Consolas"/>
              </a:rPr>
              <a:t>0xA3F7 9B2E 1D4C 8F06 E5A1 C8D3 F7B2 4690
0x7E91 3FA8 2C5D 0B67 D4F2 8A1E 6C39 B750
0x1B84 6DE0 F293 5A7C 08D1 4FE6 B3A9 2C58
0xC4D8 71F5 0E6A 39B2 A847 5C1D 6F03 E9BA
0x58A2 C7E1 3D09 F684 B15C 0A73 2EF8 D946
0x9F3B 4E27 D186 A0C5 73F4 1E8D 6B02 5CA9
0x2D71 E803 6FAC B549 1C87 5E3A 0FD2 A6B4
0xE619 8A4F C3D5 0B72 67F1 3EA8 9C24 5D0B
0x4C8E D1A6 7523 F0B9 2E84 C71F A350 6D8E
0xB35F 0C92 E7D4 186A 4FB3 A2C8 5E71 0D69
0x6A04 F8D3 1B95 C2E7 830A 4F16 D5BC 72AE
0x83C1 5E7D 4A06 FB29 D814 3C67 A0E5 9B2F
0xDF42 186B A9C3 5E70 2F84 B1D6 C738 0EA5
0x15AE 7C43 D0F8 629B E4A7 381D 5B06 CF92
0x72D9 0B5E A183 C4F6 3E07 8D2A 6F15 B4C8
0xAE60 3D8C F174 5B29 C0E3 7A46 2F18 D5B9
0x491C 8ED5 B367 0AF2 C841 3E7A 56D0 F9B2
0xF028 5CA9 7E31 D4B6 1A83 0FC5 6247 E8DA</a:t>
            </a:r>
          </a:p>
        </p:txBody>
      </p:sp>
      <p:sp>
        <p:nvSpPr>
          <p:cNvPr id="20" name="VertBar"/>
          <p:cNvSpPr/>
          <p:nvPr/>
        </p:nvSpPr>
        <p:spPr>
          <a:xfrm>
            <a:off x="914400" y="2100000"/>
            <a:ext cx="27000" cy="2400000"/>
          </a:xfrm>
          <a:prstGeom prst="rect">
            <a:avLst/>
          </a:prstGeom>
          <a:gradFill>
            <a:gsLst>
              <a:gs pos="0">
                <a:srgbClr val="FFD700"/>
              </a:gs>
              <a:gs pos="100000">
                <a:srgbClr val="C9A84C">
                  <a:alpha val="30000"/>
                </a:srgbClr>
              </a:gs>
            </a:gsLst>
            <a:lin ang="5400000" scaled="1"/>
          </a:gradFill>
          <a:ln>
            <a:noFill/>
          </a:ln>
        </p:spPr>
        <p:txBody>
          <a:bodyPr/>
          <a:lstStyle/>
          <a:p>
            <a:endParaRPr lang="en-US"/>
          </a:p>
        </p:txBody>
      </p:sp>
      <p:sp>
        <p:nvSpPr>
          <p:cNvPr id="21" name="SectionNum"/>
          <p:cNvSpPr txBox="1"/>
          <p:nvPr/>
        </p:nvSpPr>
        <p:spPr>
          <a:xfrm>
            <a:off x="1219200" y="2100000"/>
            <a:ext cx="9601200" cy="304800"/>
          </a:xfrm>
          <a:prstGeom prst="rect">
            <a:avLst/>
          </a:prstGeom>
          <a:noFill/>
          <a:ln>
            <a:noFill/>
          </a:ln>
        </p:spPr>
        <p:txBody>
          <a:bodyPr anchor="b"/>
          <a:lstStyle/>
          <a:p>
            <a:pPr algn="l">
              <a:buNone/>
            </a:pPr>
            <a:r>
              <a:rPr lang="en-US" sz="1100" spc="500" dirty="0">
                <a:solidFill>
                  <a:srgbClr val="C9A84C"/>
                </a:solidFill>
                <a:latin typeface="Georgia"/>
              </a:rPr>
              <a:t>SECTION 01</a:t>
            </a:r>
          </a:p>
        </p:txBody>
      </p:sp>
      <p:sp>
        <p:nvSpPr>
          <p:cNvPr id="22" name="SectionTitle"/>
          <p:cNvSpPr txBox="1"/>
          <p:nvPr/>
        </p:nvSpPr>
        <p:spPr>
          <a:xfrm>
            <a:off x="1219200" y="2480000"/>
            <a:ext cx="9601200" cy="914400"/>
          </a:xfrm>
          <a:prstGeom prst="rect">
            <a:avLst/>
          </a:prstGeom>
          <a:noFill/>
          <a:ln>
            <a:noFill/>
          </a:ln>
        </p:spPr>
        <p:txBody>
          <a:bodyPr anchor="t"/>
          <a:lstStyle/>
          <a:p>
            <a:pPr algn="l">
              <a:buNone/>
            </a:pPr>
            <a:r>
              <a:rPr lang="en-US" sz="3600" spc="50" dirty="0">
                <a:solidFill>
                  <a:srgbClr val="E8E4DC"/>
                </a:solidFill>
                <a:latin typeface="Georgia"/>
              </a:rPr>
              <a:t>Section Title</a:t>
            </a:r>
          </a:p>
        </p:txBody>
      </p:sp>
      <p:sp>
        <p:nvSpPr>
          <p:cNvPr id="23" name="SectionDesc"/>
          <p:cNvSpPr txBox="1"/>
          <p:nvPr/>
        </p:nvSpPr>
        <p:spPr>
          <a:xfrm>
            <a:off x="1219200" y="3500000"/>
            <a:ext cx="7315200" cy="609600"/>
          </a:xfrm>
          <a:prstGeom prst="rect">
            <a:avLst/>
          </a:prstGeom>
          <a:noFill/>
          <a:ln>
            <a:noFill/>
          </a:ln>
        </p:spPr>
        <p:txBody>
          <a:bodyPr anchor="t"/>
          <a:lstStyle/>
          <a:p>
            <a:pPr algn="l">
              <a:buNone/>
            </a:pPr>
            <a:r>
              <a:rPr lang="en-US" sz="1600" dirty="0">
                <a:solidFill>
                  <a:srgbClr val="8A857D"/>
                </a:solidFill>
                <a:latin typeface="Georgia"/>
              </a:rPr>
              <a:t>Brief section description or context-setting statement</a:t>
            </a:r>
          </a:p>
        </p:txBody>
      </p:sp>
      <p:sp>
        <p:nvSpPr>
          <p:cNvPr id="24" name="SectionDivider"/>
          <p:cNvSpPr/>
          <p:nvPr/>
        </p:nvSpPr>
        <p:spPr>
          <a:xfrm>
            <a:off x="1219200" y="4300000"/>
            <a:ext cx="2286000" cy="0"/>
          </a:xfrm>
          <a:prstGeom prst="line">
            <a:avLst/>
          </a:prstGeom>
          <a:ln w="9525">
            <a:solidFill>
              <a:srgbClr val="FFD700">
                <a:alpha val="40000"/>
              </a:srgbClr>
            </a:solidFill>
          </a:ln>
        </p:spPr>
        <p:txBody>
          <a:bodyPr/>
          <a:lstStyle/>
          <a:p>
            <a:endParaRPr lang="en-US"/>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736423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TOPIC LABEL</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Slide Title Goes Here</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66294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61722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First key point with supporting detail about the topic</a:t>
            </a:r>
          </a:p>
          <a:p>
            <a:pPr marL="228600" indent="-228600" algn="l">
              <a:spcAft>
                <a:spcPts val="1000"/>
              </a:spcAft>
              <a:buFont typeface="Arial"/>
              <a:buChar char="•"/>
            </a:pPr>
            <a:r>
              <a:rPr lang="en-US" sz="1800" dirty="0">
                <a:solidFill>
                  <a:srgbClr val="E8E4DC"/>
                </a:solidFill>
                <a:latin typeface="Georgia"/>
              </a:rPr>
              <a:t>Second key point that expands on the main narrative</a:t>
            </a:r>
          </a:p>
          <a:p>
            <a:pPr marL="228600" indent="-228600" algn="l">
              <a:spcAft>
                <a:spcPts val="1000"/>
              </a:spcAft>
              <a:buFont typeface="Arial"/>
              <a:buChar char="•"/>
            </a:pPr>
            <a:r>
              <a:rPr lang="en-US" sz="1800" dirty="0">
                <a:solidFill>
                  <a:srgbClr val="E8E4DC"/>
                </a:solidFill>
                <a:latin typeface="Georgia"/>
              </a:rPr>
              <a:t>Third point providing evidence or context</a:t>
            </a:r>
          </a:p>
          <a:p>
            <a:pPr marL="228600" indent="-228600" algn="l">
              <a:spcAft>
                <a:spcPts val="1000"/>
              </a:spcAft>
              <a:buFont typeface="Arial"/>
              <a:buChar char="•"/>
            </a:pPr>
            <a:r>
              <a:rPr lang="en-US" sz="1800" dirty="0">
                <a:solidFill>
                  <a:srgbClr val="E8E4DC"/>
                </a:solidFill>
                <a:latin typeface="Georgia"/>
              </a:rPr>
              <a:t>Final point with concluding insight or takeaway</a:t>
            </a:r>
          </a:p>
        </p:txBody>
      </p:sp>
      <p:sp>
        <p:nvSpPr>
          <p:cNvPr id="40" name="VisualArea"/>
          <p:cNvSpPr/>
          <p:nvPr/>
        </p:nvSpPr>
        <p:spPr>
          <a:xfrm>
            <a:off x="7620000" y="1524000"/>
            <a:ext cx="4114800" cy="4876800"/>
          </a:xfrm>
          <a:prstGeom prst="rect">
            <a:avLst/>
          </a:prstGeom>
          <a:solidFill>
            <a:srgbClr val="060606"/>
          </a:solidFill>
          <a:ln w="6350">
            <a:solidFill>
              <a:srgbClr val="C9A84C">
                <a:alpha val="10000"/>
              </a:srgbClr>
            </a:solidFill>
          </a:ln>
        </p:spPr>
        <p:txBody>
          <a:bodyPr anchor="ctr" anchorCtr="1"/>
          <a:lstStyle/>
          <a:p>
            <a:pPr algn="ctr">
              <a:buNone/>
            </a:pPr>
            <a:r>
              <a:rPr lang="en-US" sz="1100" spc="300" dirty="0">
                <a:solidFill>
                  <a:srgbClr val="5A5650"/>
                </a:solidFill>
                <a:latin typeface="Georgia"/>
              </a:rPr>
              <a:t>IMAGE, ICON</a:t>
            </a:r>
          </a:p>
          <a:p>
            <a:pPr algn="ctr">
              <a:buNone/>
            </a:pPr>
            <a:r>
              <a:rPr lang="en-US" sz="1100" spc="300" dirty="0">
                <a:solidFill>
                  <a:srgbClr val="5A5650"/>
                </a:solidFill>
                <a:latin typeface="Georgia"/>
              </a:rPr>
              <a:t>OR VISUAL</a:t>
            </a:r>
          </a:p>
        </p:txBody>
      </p:sp>
      <p:sp>
        <p:nvSpPr>
          <p:cNvPr id="41" name="VisAccent"/>
          <p:cNvSpPr/>
          <p:nvPr/>
        </p:nvSpPr>
        <p:spPr>
          <a:xfrm>
            <a:off x="7620000" y="1524000"/>
            <a:ext cx="4114800" cy="27000"/>
          </a:xfrm>
          <a:prstGeom prst="rect">
            <a:avLst/>
          </a:prstGeom>
          <a:solidFill>
            <a:srgbClr val="FFD700">
              <a:alpha val="40000"/>
            </a:srgbClr>
          </a:solidFill>
          <a:ln>
            <a:noFill/>
          </a:ln>
        </p:spPr>
        <p:txBody>
          <a:bodyPr/>
          <a:lstStyle/>
          <a:p>
            <a:endParaRPr lang="en-US"/>
          </a:p>
        </p:txBody>
      </p:sp>
    </p:spTree>
    <p:extLst>
      <p:ext uri="{BB962C8B-B14F-4D97-AF65-F5344CB8AC3E}">
        <p14:creationId xmlns:p14="http://schemas.microsoft.com/office/powerpoint/2010/main" val="3272727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TOPIC LABEL</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Slide Title Goes Here</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First key point with supporting detail about the topic</a:t>
            </a:r>
          </a:p>
          <a:p>
            <a:pPr marL="228600" indent="-228600" algn="l">
              <a:spcAft>
                <a:spcPts val="1000"/>
              </a:spcAft>
              <a:buFont typeface="Arial"/>
              <a:buChar char="•"/>
            </a:pPr>
            <a:r>
              <a:rPr lang="en-US" sz="1800" dirty="0">
                <a:solidFill>
                  <a:srgbClr val="E8E4DC"/>
                </a:solidFill>
                <a:latin typeface="Georgia"/>
              </a:rPr>
              <a:t>Second key point that expands on the main narrative</a:t>
            </a:r>
          </a:p>
          <a:p>
            <a:pPr marL="228600" indent="-228600" algn="l">
              <a:spcAft>
                <a:spcPts val="1000"/>
              </a:spcAft>
              <a:buFont typeface="Arial"/>
              <a:buChar char="•"/>
            </a:pPr>
            <a:r>
              <a:rPr lang="en-US" sz="1800" dirty="0">
                <a:solidFill>
                  <a:srgbClr val="E8E4DC"/>
                </a:solidFill>
                <a:latin typeface="Georgia"/>
              </a:rPr>
              <a:t>Third point providing evidence or context</a:t>
            </a:r>
          </a:p>
          <a:p>
            <a:pPr marL="228600" indent="-228600" algn="l">
              <a:spcAft>
                <a:spcPts val="1000"/>
              </a:spcAft>
              <a:buFont typeface="Arial"/>
              <a:buChar char="•"/>
            </a:pPr>
            <a:r>
              <a:rPr lang="en-US" sz="1800" dirty="0">
                <a:solidFill>
                  <a:srgbClr val="E8E4DC"/>
                </a:solidFill>
                <a:latin typeface="Georgia"/>
              </a:rPr>
              <a:t>Final point with concluding insight or takeaway</a:t>
            </a:r>
          </a:p>
        </p:txBody>
      </p:sp>
    </p:spTree>
    <p:extLst>
      <p:ext uri="{BB962C8B-B14F-4D97-AF65-F5344CB8AC3E}">
        <p14:creationId xmlns:p14="http://schemas.microsoft.com/office/powerpoint/2010/main" val="1236437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50"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0xC4D8 71F5 0E6A 39B2 A847 5C1D 6F03 E9BA 58A2 C7E1 3D09 F684</a:t>
            </a:r>
          </a:p>
        </p:txBody>
      </p:sp>
      <p:sp>
        <p:nvSpPr>
          <p:cNvPr id="49"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40" name="TwoCol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Two-Column Comparison</a:t>
            </a:r>
          </a:p>
        </p:txBody>
      </p:sp>
      <p:sp>
        <p:nvSpPr>
          <p:cNvPr id="41" name="TwoColDivider"/>
          <p:cNvSpPr/>
          <p:nvPr/>
        </p:nvSpPr>
        <p:spPr>
          <a:xfrm>
            <a:off x="609600" y="1028700"/>
            <a:ext cx="1143000" cy="0"/>
          </a:xfrm>
          <a:prstGeom prst="line">
            <a:avLst/>
          </a:prstGeom>
          <a:ln w="12700">
            <a:solidFill>
              <a:srgbClr val="FFD700"/>
            </a:solidFill>
          </a:ln>
        </p:spPr>
        <p:txBody>
          <a:bodyPr/>
          <a:lstStyle/>
          <a:p>
            <a:endParaRPr lang="en-US"/>
          </a:p>
        </p:txBody>
      </p:sp>
      <p:sp>
        <p:nvSpPr>
          <p:cNvPr id="42" name="LeftCard"/>
          <p:cNvSpPr/>
          <p:nvPr/>
        </p:nvSpPr>
        <p:spPr>
          <a:xfrm>
            <a:off x="609600" y="1295400"/>
            <a:ext cx="5257800" cy="4572000"/>
          </a:xfrm>
          <a:prstGeom prst="rect">
            <a:avLst/>
          </a:prstGeom>
          <a:solidFill>
            <a:srgbClr val="0A0A0A"/>
          </a:solidFill>
          <a:ln w="6350">
            <a:solidFill>
              <a:srgbClr val="FFD700">
                <a:alpha val="8000"/>
              </a:srgbClr>
            </a:solidFill>
          </a:ln>
        </p:spPr>
        <p:txBody>
          <a:bodyPr/>
          <a:lstStyle/>
          <a:p>
            <a:endParaRPr lang="en-US"/>
          </a:p>
        </p:txBody>
      </p:sp>
      <p:sp>
        <p:nvSpPr>
          <p:cNvPr id="43" name="RightCard"/>
          <p:cNvSpPr/>
          <p:nvPr/>
        </p:nvSpPr>
        <p:spPr>
          <a:xfrm>
            <a:off x="6096000" y="1295400"/>
            <a:ext cx="5486400" cy="4572000"/>
          </a:xfrm>
          <a:prstGeom prst="rect">
            <a:avLst/>
          </a:prstGeom>
          <a:solidFill>
            <a:srgbClr val="0A0A0A"/>
          </a:solidFill>
          <a:ln w="6350">
            <a:solidFill>
              <a:srgbClr val="FFD700">
                <a:alpha val="8000"/>
              </a:srgbClr>
            </a:solidFill>
          </a:ln>
        </p:spPr>
        <p:txBody>
          <a:bodyPr/>
          <a:lstStyle/>
          <a:p>
            <a:endParaRPr lang="en-US"/>
          </a:p>
        </p:txBody>
      </p:sp>
      <p:sp>
        <p:nvSpPr>
          <p:cNvPr id="44" name="LeftHeader"/>
          <p:cNvSpPr txBox="1"/>
          <p:nvPr/>
        </p:nvSpPr>
        <p:spPr>
          <a:xfrm>
            <a:off x="838200" y="1447800"/>
            <a:ext cx="4800600" cy="381000"/>
          </a:xfrm>
          <a:prstGeom prst="rect">
            <a:avLst/>
          </a:prstGeom>
          <a:noFill/>
          <a:ln>
            <a:noFill/>
          </a:ln>
        </p:spPr>
        <p:txBody>
          <a:bodyPr anchor="t"/>
          <a:lstStyle/>
          <a:p>
            <a:pPr algn="l">
              <a:buNone/>
            </a:pPr>
            <a:r>
              <a:rPr lang="en-US" sz="1100" spc="400" dirty="0">
                <a:solidFill>
                  <a:srgbClr val="FFD700"/>
                </a:solidFill>
                <a:latin typeface="Georgia"/>
              </a:rPr>
              <a:t>LEFT COLUMN HEADER</a:t>
            </a:r>
          </a:p>
        </p:txBody>
      </p:sp>
      <p:sp>
        <p:nvSpPr>
          <p:cNvPr id="45" name="LeftContent"/>
          <p:cNvSpPr txBox="1"/>
          <p:nvPr/>
        </p:nvSpPr>
        <p:spPr>
          <a:xfrm>
            <a:off x="838200" y="1905000"/>
            <a:ext cx="4800600" cy="3657600"/>
          </a:xfrm>
          <a:prstGeom prst="rect">
            <a:avLst/>
          </a:prstGeom>
          <a:noFill/>
          <a:ln>
            <a:noFill/>
          </a:ln>
        </p:spPr>
        <p:txBody>
          <a:bodyPr anchor="t"/>
          <a:lstStyle/>
          <a:p>
            <a:pPr marL="228600" indent="-228600" algn="l">
              <a:spcAft>
                <a:spcPts val="600"/>
              </a:spcAft>
              <a:buFont typeface="Arial"/>
              <a:buChar char="•"/>
            </a:pPr>
            <a:r>
              <a:rPr lang="en-US" sz="1600" dirty="0">
                <a:solidFill>
                  <a:srgbClr val="E8E4DC"/>
                </a:solidFill>
                <a:latin typeface="Georgia"/>
              </a:rPr>
              <a:t>First comparison point</a:t>
            </a:r>
          </a:p>
          <a:p>
            <a:pPr marL="228600" indent="-228600" algn="l">
              <a:spcAft>
                <a:spcPts val="600"/>
              </a:spcAft>
              <a:buFont typeface="Arial"/>
              <a:buChar char="•"/>
            </a:pPr>
            <a:r>
              <a:rPr lang="en-US" sz="1600" dirty="0">
                <a:solidFill>
                  <a:srgbClr val="E8E4DC"/>
                </a:solidFill>
                <a:latin typeface="Georgia"/>
              </a:rPr>
              <a:t>Second comparison point</a:t>
            </a:r>
          </a:p>
          <a:p>
            <a:pPr marL="228600" indent="-228600" algn="l">
              <a:spcAft>
                <a:spcPts val="600"/>
              </a:spcAft>
              <a:buFont typeface="Arial"/>
              <a:buChar char="•"/>
            </a:pPr>
            <a:r>
              <a:rPr lang="en-US" sz="1600" dirty="0">
                <a:solidFill>
                  <a:srgbClr val="E8E4DC"/>
                </a:solidFill>
                <a:latin typeface="Georgia"/>
              </a:rPr>
              <a:t>Third comparison point</a:t>
            </a:r>
          </a:p>
        </p:txBody>
      </p:sp>
      <p:sp>
        <p:nvSpPr>
          <p:cNvPr id="46" name="RightHeader"/>
          <p:cNvSpPr txBox="1"/>
          <p:nvPr/>
        </p:nvSpPr>
        <p:spPr>
          <a:xfrm>
            <a:off x="6324600" y="1447800"/>
            <a:ext cx="4800600" cy="381000"/>
          </a:xfrm>
          <a:prstGeom prst="rect">
            <a:avLst/>
          </a:prstGeom>
          <a:noFill/>
          <a:ln>
            <a:noFill/>
          </a:ln>
        </p:spPr>
        <p:txBody>
          <a:bodyPr anchor="t"/>
          <a:lstStyle/>
          <a:p>
            <a:pPr algn="l">
              <a:buNone/>
            </a:pPr>
            <a:r>
              <a:rPr lang="en-US" sz="1100" spc="400" dirty="0">
                <a:solidFill>
                  <a:srgbClr val="FFD700"/>
                </a:solidFill>
                <a:latin typeface="Georgia"/>
              </a:rPr>
              <a:t>RIGHT COLUMN HEADER</a:t>
            </a:r>
          </a:p>
        </p:txBody>
      </p:sp>
      <p:sp>
        <p:nvSpPr>
          <p:cNvPr id="47" name="RightContent"/>
          <p:cNvSpPr txBox="1"/>
          <p:nvPr/>
        </p:nvSpPr>
        <p:spPr>
          <a:xfrm>
            <a:off x="6324600" y="1905000"/>
            <a:ext cx="4800600" cy="3657600"/>
          </a:xfrm>
          <a:prstGeom prst="rect">
            <a:avLst/>
          </a:prstGeom>
          <a:noFill/>
          <a:ln>
            <a:noFill/>
          </a:ln>
        </p:spPr>
        <p:txBody>
          <a:bodyPr anchor="t"/>
          <a:lstStyle/>
          <a:p>
            <a:pPr marL="228600" indent="-228600" algn="l">
              <a:spcAft>
                <a:spcPts val="600"/>
              </a:spcAft>
              <a:buFont typeface="Arial"/>
              <a:buChar char="•"/>
            </a:pPr>
            <a:r>
              <a:rPr lang="en-US" sz="1600" dirty="0">
                <a:solidFill>
                  <a:srgbClr val="E8E4DC"/>
                </a:solidFill>
                <a:latin typeface="Georgia"/>
              </a:rPr>
              <a:t>First comparison point</a:t>
            </a:r>
          </a:p>
          <a:p>
            <a:pPr marL="228600" indent="-228600" algn="l">
              <a:spcAft>
                <a:spcPts val="600"/>
              </a:spcAft>
              <a:buFont typeface="Arial"/>
              <a:buChar char="•"/>
            </a:pPr>
            <a:r>
              <a:rPr lang="en-US" sz="1600" dirty="0">
                <a:solidFill>
                  <a:srgbClr val="E8E4DC"/>
                </a:solidFill>
                <a:latin typeface="Georgia"/>
              </a:rPr>
              <a:t>Second comparison point</a:t>
            </a:r>
          </a:p>
          <a:p>
            <a:pPr marL="228600" indent="-228600" algn="l">
              <a:spcAft>
                <a:spcPts val="600"/>
              </a:spcAft>
              <a:buFont typeface="Arial"/>
              <a:buChar char="•"/>
            </a:pPr>
            <a:r>
              <a:rPr lang="en-US" sz="1600" dirty="0">
                <a:solidFill>
                  <a:srgbClr val="E8E4DC"/>
                </a:solidFill>
                <a:latin typeface="Georgia"/>
              </a:rPr>
              <a:t>Third comparison point</a:t>
            </a:r>
          </a:p>
        </p:txBody>
      </p:sp>
      <p:sp>
        <p:nvSpPr>
          <p:cNvPr id="48" name="CenterDivider"/>
          <p:cNvSpPr/>
          <p:nvPr/>
        </p:nvSpPr>
        <p:spPr>
          <a:xfrm>
            <a:off x="5867400" y="1524000"/>
            <a:ext cx="0" cy="4114800"/>
          </a:xfrm>
          <a:prstGeom prst="line">
            <a:avLst/>
          </a:prstGeom>
          <a:ln w="6350">
            <a:solidFill>
              <a:srgbClr val="C9A84C">
                <a:alpha val="20000"/>
              </a:srgbClr>
            </a:solidFill>
          </a:ln>
        </p:spPr>
        <p:txBody>
          <a:bodyPr/>
          <a:lstStyle/>
          <a:p>
            <a:endParaRPr lang="en-US"/>
          </a:p>
        </p:txBody>
      </p:sp>
      <p:sp>
        <p:nvSpPr>
          <p:cNvPr id="900" name="Corner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orner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orner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orner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orner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orner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172590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50" name="QuoteLineTop"/>
          <p:cNvSpPr/>
          <p:nvPr/>
        </p:nvSpPr>
        <p:spPr>
          <a:xfrm>
            <a:off x="5181600" y="1600200"/>
            <a:ext cx="1828800" cy="0"/>
          </a:xfrm>
          <a:prstGeom prst="line">
            <a:avLst/>
          </a:prstGeom>
          <a:ln w="9525">
            <a:solidFill>
              <a:srgbClr val="C9A84C"/>
            </a:solidFill>
          </a:ln>
        </p:spPr>
        <p:txBody>
          <a:bodyPr/>
          <a:lstStyle/>
          <a:p>
            <a:endParaRPr lang="en-US"/>
          </a:p>
        </p:txBody>
      </p:sp>
      <p:sp>
        <p:nvSpPr>
          <p:cNvPr id="51" name="QuoteText"/>
          <p:cNvSpPr txBox="1"/>
          <p:nvPr/>
        </p:nvSpPr>
        <p:spPr>
          <a:xfrm>
            <a:off x="1371600" y="1828800"/>
            <a:ext cx="9448800" cy="2286000"/>
          </a:xfrm>
          <a:prstGeom prst="rect">
            <a:avLst/>
          </a:prstGeom>
          <a:noFill/>
          <a:ln>
            <a:noFill/>
          </a:ln>
        </p:spPr>
        <p:txBody>
          <a:bodyPr anchor="ctr"/>
          <a:lstStyle/>
          <a:p>
            <a:pPr algn="ctr">
              <a:lnSpc>
                <a:spcPts val="3600"/>
              </a:lnSpc>
              <a:buNone/>
            </a:pPr>
            <a:r>
              <a:rPr lang="en-US" sz="2600" i="1" dirty="0">
                <a:solidFill>
                  <a:srgbClr val="FFD700"/>
                </a:solidFill>
                <a:latin typeface="Georgia"/>
              </a:rPr>
              <a:t>“The root problem with conventional currency is all the trust that’s required to make it work.”</a:t>
            </a:r>
          </a:p>
        </p:txBody>
      </p:sp>
      <p:sp>
        <p:nvSpPr>
          <p:cNvPr id="52" name="QuoteLineBottom"/>
          <p:cNvSpPr/>
          <p:nvPr/>
        </p:nvSpPr>
        <p:spPr>
          <a:xfrm>
            <a:off x="5181600" y="4267200"/>
            <a:ext cx="1828800" cy="0"/>
          </a:xfrm>
          <a:prstGeom prst="line">
            <a:avLst/>
          </a:prstGeom>
          <a:ln w="9525">
            <a:solidFill>
              <a:srgbClr val="C9A84C"/>
            </a:solidFill>
          </a:ln>
        </p:spPr>
        <p:txBody>
          <a:bodyPr/>
          <a:lstStyle/>
          <a:p>
            <a:endParaRPr lang="en-US"/>
          </a:p>
        </p:txBody>
      </p:sp>
      <p:sp>
        <p:nvSpPr>
          <p:cNvPr id="53" name="QuoteAttrib"/>
          <p:cNvSpPr txBox="1"/>
          <p:nvPr/>
        </p:nvSpPr>
        <p:spPr>
          <a:xfrm>
            <a:off x="1371600" y="4419600"/>
            <a:ext cx="9448800" cy="381000"/>
          </a:xfrm>
          <a:prstGeom prst="rect">
            <a:avLst/>
          </a:prstGeom>
          <a:noFill/>
          <a:ln>
            <a:noFill/>
          </a:ln>
        </p:spPr>
        <p:txBody>
          <a:bodyPr anchor="t"/>
          <a:lstStyle/>
          <a:p>
            <a:pPr algn="ctr">
              <a:buNone/>
            </a:pPr>
            <a:r>
              <a:rPr lang="en-US" sz="1200" spc="300" dirty="0">
                <a:solidFill>
                  <a:srgbClr val="8A857D"/>
                </a:solidFill>
                <a:latin typeface="Georgia"/>
              </a:rPr>
              <a:t>— SATOSHI NAKAMOTO, 2009</a:t>
            </a:r>
          </a:p>
        </p:txBody>
      </p:sp>
      <p:sp>
        <p:nvSpPr>
          <p:cNvPr id="900" name="C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201202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75"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0x9F3B 4E27 D186 A0C5 73F4 1E8D 6B02 5CA9 2D71 E803 6FAC B549</a:t>
            </a:r>
          </a:p>
        </p:txBody>
      </p:sp>
      <p:sp>
        <p:nvSpPr>
          <p:cNvPr id="74"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60" name="Stats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Key Metrics</a:t>
            </a:r>
          </a:p>
        </p:txBody>
      </p:sp>
      <p:sp>
        <p:nvSpPr>
          <p:cNvPr id="61" name="StatsDivider"/>
          <p:cNvSpPr/>
          <p:nvPr/>
        </p:nvSpPr>
        <p:spPr>
          <a:xfrm>
            <a:off x="609600" y="1028700"/>
            <a:ext cx="1143000" cy="0"/>
          </a:xfrm>
          <a:prstGeom prst="line">
            <a:avLst/>
          </a:prstGeom>
          <a:ln w="12700">
            <a:solidFill>
              <a:srgbClr val="FFD700"/>
            </a:solidFill>
          </a:ln>
        </p:spPr>
        <p:txBody>
          <a:bodyPr/>
          <a:lstStyle/>
          <a:p>
            <a:endParaRPr lang="en-US"/>
          </a:p>
        </p:txBody>
      </p:sp>
      <p:sp>
        <p:nvSpPr>
          <p:cNvPr id="62" name="StatCard0"/>
          <p:cNvSpPr/>
          <p:nvPr/>
        </p:nvSpPr>
        <p:spPr>
          <a:xfrm>
            <a:off x="609600" y="1371600"/>
            <a:ext cx="3429000" cy="4114800"/>
          </a:xfrm>
          <a:prstGeom prst="rect">
            <a:avLst/>
          </a:prstGeom>
          <a:solidFill>
            <a:srgbClr val="0A0A0A"/>
          </a:solidFill>
          <a:ln w="6350">
            <a:solidFill>
              <a:srgbClr val="FFD700">
                <a:alpha val="8000"/>
              </a:srgbClr>
            </a:solidFill>
          </a:ln>
        </p:spPr>
        <p:txBody>
          <a:bodyPr/>
          <a:lstStyle/>
          <a:p>
            <a:endParaRPr lang="en-US"/>
          </a:p>
        </p:txBody>
      </p:sp>
      <p:sp>
        <p:nvSpPr>
          <p:cNvPr id="63" name="StatAccent0"/>
          <p:cNvSpPr/>
          <p:nvPr/>
        </p:nvSpPr>
        <p:spPr>
          <a:xfrm>
            <a:off x="609600" y="1371600"/>
            <a:ext cx="3429000" cy="27000"/>
          </a:xfrm>
          <a:prstGeom prst="rect">
            <a:avLst/>
          </a:prstGeom>
          <a:solidFill>
            <a:srgbClr val="FFD700"/>
          </a:solidFill>
          <a:ln>
            <a:noFill/>
          </a:ln>
        </p:spPr>
        <p:txBody>
          <a:bodyPr/>
          <a:lstStyle/>
          <a:p>
            <a:endParaRPr lang="en-US"/>
          </a:p>
        </p:txBody>
      </p:sp>
      <p:sp>
        <p:nvSpPr>
          <p:cNvPr id="64" name="StatNum0"/>
          <p:cNvSpPr txBox="1"/>
          <p:nvPr/>
        </p:nvSpPr>
        <p:spPr>
          <a:xfrm>
            <a:off x="838200" y="1828800"/>
            <a:ext cx="2971800" cy="914400"/>
          </a:xfrm>
          <a:prstGeom prst="rect">
            <a:avLst/>
          </a:prstGeom>
          <a:noFill/>
          <a:ln>
            <a:noFill/>
          </a:ln>
        </p:spPr>
        <p:txBody>
          <a:bodyPr anchor="b"/>
          <a:lstStyle/>
          <a:p>
            <a:pPr algn="l">
              <a:buNone/>
            </a:pPr>
            <a:r>
              <a:rPr lang="en-US" sz="4400" dirty="0">
                <a:solidFill>
                  <a:srgbClr val="FFD700"/>
                </a:solidFill>
                <a:latin typeface="Georgia"/>
              </a:rPr>
              <a:t>21M</a:t>
            </a:r>
          </a:p>
        </p:txBody>
      </p:sp>
      <p:sp>
        <p:nvSpPr>
          <p:cNvPr id="65" name="StatLabel0"/>
          <p:cNvSpPr txBox="1"/>
          <p:nvPr/>
        </p:nvSpPr>
        <p:spPr>
          <a:xfrm>
            <a:off x="838200" y="2895600"/>
            <a:ext cx="2971800" cy="1524000"/>
          </a:xfrm>
          <a:prstGeom prst="rect">
            <a:avLst/>
          </a:prstGeom>
          <a:noFill/>
          <a:ln>
            <a:noFill/>
          </a:ln>
        </p:spPr>
        <p:txBody>
          <a:bodyPr anchor="t"/>
          <a:lstStyle/>
          <a:p>
            <a:pPr algn="l">
              <a:spcAft>
                <a:spcPts val="400"/>
              </a:spcAft>
              <a:buNone/>
            </a:pPr>
            <a:r>
              <a:rPr lang="en-US" sz="1100" spc="400" dirty="0">
                <a:solidFill>
                  <a:srgbClr val="C9A84C"/>
                </a:solidFill>
                <a:latin typeface="Georgia"/>
              </a:rPr>
              <a:t>TOTAL SUPPLY</a:t>
            </a:r>
          </a:p>
          <a:p>
            <a:pPr algn="l">
              <a:buNone/>
            </a:pPr>
            <a:r>
              <a:rPr lang="en-US" sz="1600" dirty="0">
                <a:solidFill>
                  <a:srgbClr val="8A857D"/>
                </a:solidFill>
                <a:latin typeface="Georgia"/>
              </a:rPr>
              <a:t>Fixed. Finite. Immutable.</a:t>
            </a:r>
          </a:p>
        </p:txBody>
      </p:sp>
      <p:sp>
        <p:nvSpPr>
          <p:cNvPr id="66" name="StatCard1"/>
          <p:cNvSpPr/>
          <p:nvPr/>
        </p:nvSpPr>
        <p:spPr>
          <a:xfrm>
            <a:off x="4267200" y="1371600"/>
            <a:ext cx="3429000" cy="4114800"/>
          </a:xfrm>
          <a:prstGeom prst="rect">
            <a:avLst/>
          </a:prstGeom>
          <a:solidFill>
            <a:srgbClr val="0A0A0A"/>
          </a:solidFill>
          <a:ln w="6350">
            <a:solidFill>
              <a:srgbClr val="FFD700">
                <a:alpha val="8000"/>
              </a:srgbClr>
            </a:solidFill>
          </a:ln>
        </p:spPr>
        <p:txBody>
          <a:bodyPr/>
          <a:lstStyle/>
          <a:p>
            <a:endParaRPr lang="en-US"/>
          </a:p>
        </p:txBody>
      </p:sp>
      <p:sp>
        <p:nvSpPr>
          <p:cNvPr id="67" name="StatAccent1"/>
          <p:cNvSpPr/>
          <p:nvPr/>
        </p:nvSpPr>
        <p:spPr>
          <a:xfrm>
            <a:off x="4267200" y="1371600"/>
            <a:ext cx="3429000" cy="27000"/>
          </a:xfrm>
          <a:prstGeom prst="rect">
            <a:avLst/>
          </a:prstGeom>
          <a:solidFill>
            <a:srgbClr val="FFD700"/>
          </a:solidFill>
          <a:ln>
            <a:noFill/>
          </a:ln>
        </p:spPr>
        <p:txBody>
          <a:bodyPr/>
          <a:lstStyle/>
          <a:p>
            <a:endParaRPr lang="en-US"/>
          </a:p>
        </p:txBody>
      </p:sp>
      <p:sp>
        <p:nvSpPr>
          <p:cNvPr id="68" name="StatNum1"/>
          <p:cNvSpPr txBox="1"/>
          <p:nvPr/>
        </p:nvSpPr>
        <p:spPr>
          <a:xfrm>
            <a:off x="4495800" y="1828800"/>
            <a:ext cx="2971800" cy="914400"/>
          </a:xfrm>
          <a:prstGeom prst="rect">
            <a:avLst/>
          </a:prstGeom>
          <a:noFill/>
          <a:ln>
            <a:noFill/>
          </a:ln>
        </p:spPr>
        <p:txBody>
          <a:bodyPr anchor="b"/>
          <a:lstStyle/>
          <a:p>
            <a:pPr algn="l">
              <a:buNone/>
            </a:pPr>
            <a:r>
              <a:rPr lang="en-US" sz="4400" dirty="0">
                <a:solidFill>
                  <a:srgbClr val="FFD700"/>
                </a:solidFill>
                <a:latin typeface="Georgia"/>
              </a:rPr>
              <a:t>881K</a:t>
            </a:r>
          </a:p>
        </p:txBody>
      </p:sp>
      <p:sp>
        <p:nvSpPr>
          <p:cNvPr id="69" name="StatLabel1"/>
          <p:cNvSpPr txBox="1"/>
          <p:nvPr/>
        </p:nvSpPr>
        <p:spPr>
          <a:xfrm>
            <a:off x="4495800" y="2895600"/>
            <a:ext cx="2971800" cy="1524000"/>
          </a:xfrm>
          <a:prstGeom prst="rect">
            <a:avLst/>
          </a:prstGeom>
          <a:noFill/>
          <a:ln>
            <a:noFill/>
          </a:ln>
        </p:spPr>
        <p:txBody>
          <a:bodyPr anchor="t"/>
          <a:lstStyle/>
          <a:p>
            <a:pPr algn="l">
              <a:spcAft>
                <a:spcPts val="400"/>
              </a:spcAft>
              <a:buNone/>
            </a:pPr>
            <a:r>
              <a:rPr lang="en-US" sz="1100" spc="400" dirty="0">
                <a:solidFill>
                  <a:srgbClr val="C9A84C"/>
                </a:solidFill>
                <a:latin typeface="Georgia"/>
              </a:rPr>
              <a:t>BLOCK HEIGHT</a:t>
            </a:r>
          </a:p>
          <a:p>
            <a:pPr algn="l">
              <a:buNone/>
            </a:pPr>
            <a:r>
              <a:rPr lang="en-US" sz="1600" dirty="0">
                <a:solidFill>
                  <a:srgbClr val="8A857D"/>
                </a:solidFill>
                <a:latin typeface="Georgia"/>
              </a:rPr>
              <a:t>Blocks mined since genesis.</a:t>
            </a:r>
          </a:p>
        </p:txBody>
      </p:sp>
      <p:sp>
        <p:nvSpPr>
          <p:cNvPr id="70" name="StatCard2"/>
          <p:cNvSpPr/>
          <p:nvPr/>
        </p:nvSpPr>
        <p:spPr>
          <a:xfrm>
            <a:off x="7924800" y="1371600"/>
            <a:ext cx="3429000" cy="4114800"/>
          </a:xfrm>
          <a:prstGeom prst="rect">
            <a:avLst/>
          </a:prstGeom>
          <a:solidFill>
            <a:srgbClr val="0A0A0A"/>
          </a:solidFill>
          <a:ln w="6350">
            <a:solidFill>
              <a:srgbClr val="FFD700">
                <a:alpha val="8000"/>
              </a:srgbClr>
            </a:solidFill>
          </a:ln>
        </p:spPr>
        <p:txBody>
          <a:bodyPr/>
          <a:lstStyle/>
          <a:p>
            <a:endParaRPr lang="en-US"/>
          </a:p>
        </p:txBody>
      </p:sp>
      <p:sp>
        <p:nvSpPr>
          <p:cNvPr id="71" name="StatAccent2"/>
          <p:cNvSpPr/>
          <p:nvPr/>
        </p:nvSpPr>
        <p:spPr>
          <a:xfrm>
            <a:off x="7924800" y="1371600"/>
            <a:ext cx="3429000" cy="27000"/>
          </a:xfrm>
          <a:prstGeom prst="rect">
            <a:avLst/>
          </a:prstGeom>
          <a:solidFill>
            <a:srgbClr val="FFD700"/>
          </a:solidFill>
          <a:ln>
            <a:noFill/>
          </a:ln>
        </p:spPr>
        <p:txBody>
          <a:bodyPr/>
          <a:lstStyle/>
          <a:p>
            <a:endParaRPr lang="en-US"/>
          </a:p>
        </p:txBody>
      </p:sp>
      <p:sp>
        <p:nvSpPr>
          <p:cNvPr id="72" name="StatNum2"/>
          <p:cNvSpPr txBox="1"/>
          <p:nvPr/>
        </p:nvSpPr>
        <p:spPr>
          <a:xfrm>
            <a:off x="8153400" y="1828800"/>
            <a:ext cx="2971800" cy="914400"/>
          </a:xfrm>
          <a:prstGeom prst="rect">
            <a:avLst/>
          </a:prstGeom>
          <a:noFill/>
          <a:ln>
            <a:noFill/>
          </a:ln>
        </p:spPr>
        <p:txBody>
          <a:bodyPr anchor="b"/>
          <a:lstStyle/>
          <a:p>
            <a:pPr algn="l">
              <a:buNone/>
            </a:pPr>
            <a:r>
              <a:rPr lang="en-US" sz="4400" dirty="0">
                <a:solidFill>
                  <a:srgbClr val="FFD700"/>
                </a:solidFill>
                <a:latin typeface="Georgia"/>
              </a:rPr>
              <a:t>99.9%</a:t>
            </a:r>
          </a:p>
        </p:txBody>
      </p:sp>
      <p:sp>
        <p:nvSpPr>
          <p:cNvPr id="73" name="StatLabel2"/>
          <p:cNvSpPr txBox="1"/>
          <p:nvPr/>
        </p:nvSpPr>
        <p:spPr>
          <a:xfrm>
            <a:off x="8153400" y="2895600"/>
            <a:ext cx="2971800" cy="1524000"/>
          </a:xfrm>
          <a:prstGeom prst="rect">
            <a:avLst/>
          </a:prstGeom>
          <a:noFill/>
          <a:ln>
            <a:noFill/>
          </a:ln>
        </p:spPr>
        <p:txBody>
          <a:bodyPr anchor="t"/>
          <a:lstStyle/>
          <a:p>
            <a:pPr algn="l">
              <a:spcAft>
                <a:spcPts val="400"/>
              </a:spcAft>
              <a:buNone/>
            </a:pPr>
            <a:r>
              <a:rPr lang="en-US" sz="1100" spc="400" dirty="0">
                <a:solidFill>
                  <a:srgbClr val="C9A84C"/>
                </a:solidFill>
                <a:latin typeface="Georgia"/>
              </a:rPr>
              <a:t>NETWORK UPTIME</a:t>
            </a:r>
          </a:p>
          <a:p>
            <a:pPr algn="l">
              <a:buNone/>
            </a:pPr>
            <a:r>
              <a:rPr lang="en-US" sz="1600" dirty="0">
                <a:solidFill>
                  <a:srgbClr val="8A857D"/>
                </a:solidFill>
                <a:latin typeface="Georgia"/>
              </a:rPr>
              <a:t>Since January 3, 2009.</a:t>
            </a:r>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66196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584D7C-A2D9-46F2-8963-33E5FE74C1B9}"/>
              </a:ext>
            </a:extLst>
          </p:cNvPr>
          <p:cNvSpPr txBox="1"/>
          <p:nvPr/>
        </p:nvSpPr>
        <p:spPr>
          <a:xfrm>
            <a:off x="508000" y="254000"/>
            <a:ext cx="9144000" cy="609600"/>
          </a:xfrm>
          <a:prstGeom prst="rect">
            <a:avLst/>
          </a:prstGeom>
          <a:noFill/>
        </p:spPr>
        <p:txBody>
          <a:bodyPr vertOverflow="overflow" vert="horz" wrap="square" rtlCol="0" anchor="t">
            <a:spAutoFit/>
          </a:bodyPr>
          <a:lstStyle/>
          <a:p>
            <a:pPr algn="l"/>
            <a:r>
              <a:rPr lang="en-US" sz="2800">
                <a:solidFill>
                  <a:srgbClr val="E8E4DC"/>
                </a:solidFill>
                <a:latin typeface="Georgia"/>
              </a:rPr>
              <a:t>Data Table Title</a:t>
            </a:r>
          </a:p>
        </p:txBody>
      </p:sp>
      <p:sp>
        <p:nvSpPr>
          <p:cNvPr id="3" name="Rectangle 2">
            <a:extLst>
              <a:ext uri="{FF2B5EF4-FFF2-40B4-BE49-F238E27FC236}">
                <a16:creationId xmlns:a16="http://schemas.microsoft.com/office/drawing/2014/main" id="{ACE90AED-1EE4-48DB-AAAE-BAC04363A716}"/>
              </a:ext>
            </a:extLst>
          </p:cNvPr>
          <p:cNvSpPr/>
          <p:nvPr/>
        </p:nvSpPr>
        <p:spPr>
          <a:xfrm>
            <a:off x="508000" y="914400"/>
            <a:ext cx="1016000" cy="25400"/>
          </a:xfrm>
          <a:prstGeom prst="rect">
            <a:avLst/>
          </a:prstGeom>
          <a:solidFill>
            <a:srgbClr val="FFD7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aphicFrame>
        <p:nvGraphicFramePr>
          <p:cNvPr id="5" name="Table 4">
            <a:extLst>
              <a:ext uri="{FF2B5EF4-FFF2-40B4-BE49-F238E27FC236}">
                <a16:creationId xmlns:a16="http://schemas.microsoft.com/office/drawing/2014/main" id="{BAC62ED0-6CC8-4BFF-9E61-EBD9C5BBB5E5}"/>
              </a:ext>
            </a:extLst>
          </p:cNvPr>
          <p:cNvGraphicFramePr>
            <a:graphicFrameLocks noGrp="1"/>
          </p:cNvGraphicFramePr>
          <p:nvPr/>
        </p:nvGraphicFramePr>
        <p:xfrm>
          <a:off x="508000" y="1143000"/>
          <a:ext cx="11176000" cy="41275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990774508"/>
                    </a:ext>
                  </a:extLst>
                </a:gridCol>
                <a:gridCol w="2667000">
                  <a:extLst>
                    <a:ext uri="{9D8B030D-6E8A-4147-A177-3AD203B41FA5}">
                      <a16:colId xmlns:a16="http://schemas.microsoft.com/office/drawing/2014/main" val="2766184907"/>
                    </a:ext>
                  </a:extLst>
                </a:gridCol>
                <a:gridCol w="2667000">
                  <a:extLst>
                    <a:ext uri="{9D8B030D-6E8A-4147-A177-3AD203B41FA5}">
                      <a16:colId xmlns:a16="http://schemas.microsoft.com/office/drawing/2014/main" val="2194434380"/>
                    </a:ext>
                  </a:extLst>
                </a:gridCol>
                <a:gridCol w="2667000">
                  <a:extLst>
                    <a:ext uri="{9D8B030D-6E8A-4147-A177-3AD203B41FA5}">
                      <a16:colId xmlns:a16="http://schemas.microsoft.com/office/drawing/2014/main" val="1280098464"/>
                    </a:ext>
                  </a:extLst>
                </a:gridCol>
              </a:tblGrid>
              <a:tr h="571500">
                <a:tc>
                  <a:txBody>
                    <a:bodyPr/>
                    <a:lstStyle/>
                    <a:p>
                      <a:pPr algn="l"/>
                      <a:r>
                        <a:rPr lang="en-US" sz="1400" b="1">
                          <a:solidFill>
                            <a:srgbClr val="C9A84C"/>
                          </a:solidFill>
                          <a:latin typeface="Georgia"/>
                        </a:rPr>
                        <a:t>METRIC</a:t>
                      </a:r>
                    </a:p>
                  </a:txBody>
                  <a:tcPr anchor="ctr">
                    <a:solidFill>
                      <a:srgbClr val="0A0A0A"/>
                    </a:solidFill>
                  </a:tcPr>
                </a:tc>
                <a:tc>
                  <a:txBody>
                    <a:bodyPr/>
                    <a:lstStyle/>
                    <a:p>
                      <a:pPr algn="ctr"/>
                      <a:r>
                        <a:rPr lang="en-US" sz="1400" b="1">
                          <a:solidFill>
                            <a:srgbClr val="C9A84C"/>
                          </a:solidFill>
                          <a:latin typeface="Georgia"/>
                        </a:rPr>
                        <a:t>Q1 2025</a:t>
                      </a:r>
                    </a:p>
                  </a:txBody>
                  <a:tcPr anchor="ctr">
                    <a:solidFill>
                      <a:srgbClr val="0A0A0A"/>
                    </a:solidFill>
                  </a:tcPr>
                </a:tc>
                <a:tc>
                  <a:txBody>
                    <a:bodyPr/>
                    <a:lstStyle/>
                    <a:p>
                      <a:pPr algn="ctr"/>
                      <a:r>
                        <a:rPr lang="en-US" sz="1400" b="1">
                          <a:solidFill>
                            <a:srgbClr val="C9A84C"/>
                          </a:solidFill>
                          <a:latin typeface="Georgia"/>
                        </a:rPr>
                        <a:t>Q2 2025</a:t>
                      </a:r>
                    </a:p>
                  </a:txBody>
                  <a:tcPr anchor="ctr">
                    <a:solidFill>
                      <a:srgbClr val="0A0A0A"/>
                    </a:solidFill>
                  </a:tcPr>
                </a:tc>
                <a:tc>
                  <a:txBody>
                    <a:bodyPr/>
                    <a:lstStyle/>
                    <a:p>
                      <a:pPr algn="ctr"/>
                      <a:r>
                        <a:rPr lang="en-US" sz="1400" b="1">
                          <a:solidFill>
                            <a:srgbClr val="C9A84C"/>
                          </a:solidFill>
                          <a:latin typeface="Georgia"/>
                        </a:rPr>
                        <a:t>Q3 2025</a:t>
                      </a:r>
                    </a:p>
                  </a:txBody>
                  <a:tcPr anchor="ctr">
                    <a:solidFill>
                      <a:srgbClr val="0A0A0A"/>
                    </a:solidFill>
                  </a:tcPr>
                </a:tc>
                <a:extLst>
                  <a:ext uri="{0D108BD9-81ED-4DB2-BD59-A6C34878D82A}">
                    <a16:rowId xmlns:a16="http://schemas.microsoft.com/office/drawing/2014/main" val="1338102518"/>
                  </a:ext>
                </a:extLst>
              </a:tr>
              <a:tr h="889000">
                <a:tc>
                  <a:txBody>
                    <a:bodyPr/>
                    <a:lstStyle/>
                    <a:p>
                      <a:pPr algn="l"/>
                      <a:r>
                        <a:rPr lang="en-US" sz="1400" b="1">
                          <a:solidFill>
                            <a:srgbClr val="E8E4DC"/>
                          </a:solidFill>
                          <a:latin typeface="Georgia"/>
                        </a:rPr>
                        <a:t>Hash Rate</a:t>
                      </a:r>
                    </a:p>
                  </a:txBody>
                  <a:tcPr anchor="ctr">
                    <a:solidFill>
                      <a:srgbClr val="050505"/>
                    </a:solidFill>
                  </a:tcPr>
                </a:tc>
                <a:tc>
                  <a:txBody>
                    <a:bodyPr/>
                    <a:lstStyle/>
                    <a:p>
                      <a:pPr algn="ctr"/>
                      <a:r>
                        <a:rPr lang="en-US" sz="1400" b="0">
                          <a:solidFill>
                            <a:srgbClr val="8A857D"/>
                          </a:solidFill>
                          <a:latin typeface="Georgia"/>
                        </a:rPr>
                        <a:t>625 EH/s</a:t>
                      </a:r>
                    </a:p>
                  </a:txBody>
                  <a:tcPr anchor="ctr">
                    <a:solidFill>
                      <a:srgbClr val="050505"/>
                    </a:solidFill>
                  </a:tcPr>
                </a:tc>
                <a:tc>
                  <a:txBody>
                    <a:bodyPr/>
                    <a:lstStyle/>
                    <a:p>
                      <a:pPr algn="ctr"/>
                      <a:r>
                        <a:rPr lang="en-US" sz="1400" b="0">
                          <a:solidFill>
                            <a:srgbClr val="8A857D"/>
                          </a:solidFill>
                          <a:latin typeface="Georgia"/>
                        </a:rPr>
                        <a:t>680 EH/s</a:t>
                      </a:r>
                    </a:p>
                  </a:txBody>
                  <a:tcPr anchor="ctr">
                    <a:solidFill>
                      <a:srgbClr val="050505"/>
                    </a:solidFill>
                  </a:tcPr>
                </a:tc>
                <a:tc>
                  <a:txBody>
                    <a:bodyPr/>
                    <a:lstStyle/>
                    <a:p>
                      <a:pPr algn="ctr"/>
                      <a:r>
                        <a:rPr lang="en-US" sz="1400" b="0">
                          <a:solidFill>
                            <a:srgbClr val="8A857D"/>
                          </a:solidFill>
                          <a:latin typeface="Georgia"/>
                        </a:rPr>
                        <a:t>712 EH/s</a:t>
                      </a:r>
                    </a:p>
                  </a:txBody>
                  <a:tcPr anchor="ctr">
                    <a:solidFill>
                      <a:srgbClr val="050505"/>
                    </a:solidFill>
                  </a:tcPr>
                </a:tc>
                <a:extLst>
                  <a:ext uri="{0D108BD9-81ED-4DB2-BD59-A6C34878D82A}">
                    <a16:rowId xmlns:a16="http://schemas.microsoft.com/office/drawing/2014/main" val="3489206616"/>
                  </a:ext>
                </a:extLst>
              </a:tr>
              <a:tr h="889000">
                <a:tc>
                  <a:txBody>
                    <a:bodyPr/>
                    <a:lstStyle/>
                    <a:p>
                      <a:pPr algn="l"/>
                      <a:r>
                        <a:rPr lang="en-US" sz="1400" b="1">
                          <a:solidFill>
                            <a:srgbClr val="E8E4DC"/>
                          </a:solidFill>
                          <a:latin typeface="Georgia"/>
                        </a:rPr>
                        <a:t>Difficulty</a:t>
                      </a:r>
                    </a:p>
                  </a:txBody>
                  <a:tcPr anchor="ctr">
                    <a:solidFill>
                      <a:srgbClr val="0A0A0A"/>
                    </a:solidFill>
                  </a:tcPr>
                </a:tc>
                <a:tc>
                  <a:txBody>
                    <a:bodyPr/>
                    <a:lstStyle/>
                    <a:p>
                      <a:pPr algn="ctr"/>
                      <a:r>
                        <a:rPr lang="en-US" sz="1400" b="0">
                          <a:solidFill>
                            <a:srgbClr val="8A857D"/>
                          </a:solidFill>
                          <a:latin typeface="Georgia"/>
                        </a:rPr>
                        <a:t>78.5T</a:t>
                      </a:r>
                    </a:p>
                  </a:txBody>
                  <a:tcPr anchor="ctr">
                    <a:solidFill>
                      <a:srgbClr val="0A0A0A"/>
                    </a:solidFill>
                  </a:tcPr>
                </a:tc>
                <a:tc>
                  <a:txBody>
                    <a:bodyPr/>
                    <a:lstStyle/>
                    <a:p>
                      <a:pPr algn="ctr"/>
                      <a:r>
                        <a:rPr lang="en-US" sz="1400" b="0">
                          <a:solidFill>
                            <a:srgbClr val="8A857D"/>
                          </a:solidFill>
                          <a:latin typeface="Georgia"/>
                        </a:rPr>
                        <a:t>82.1T</a:t>
                      </a:r>
                    </a:p>
                  </a:txBody>
                  <a:tcPr anchor="ctr">
                    <a:solidFill>
                      <a:srgbClr val="0A0A0A"/>
                    </a:solidFill>
                  </a:tcPr>
                </a:tc>
                <a:tc>
                  <a:txBody>
                    <a:bodyPr/>
                    <a:lstStyle/>
                    <a:p>
                      <a:pPr algn="ctr"/>
                      <a:r>
                        <a:rPr lang="en-US" sz="1400" b="0">
                          <a:solidFill>
                            <a:srgbClr val="8A857D"/>
                          </a:solidFill>
                          <a:latin typeface="Georgia"/>
                        </a:rPr>
                        <a:t>85.6T</a:t>
                      </a:r>
                    </a:p>
                  </a:txBody>
                  <a:tcPr anchor="ctr">
                    <a:solidFill>
                      <a:srgbClr val="0A0A0A"/>
                    </a:solidFill>
                  </a:tcPr>
                </a:tc>
                <a:extLst>
                  <a:ext uri="{0D108BD9-81ED-4DB2-BD59-A6C34878D82A}">
                    <a16:rowId xmlns:a16="http://schemas.microsoft.com/office/drawing/2014/main" val="1885465548"/>
                  </a:ext>
                </a:extLst>
              </a:tr>
              <a:tr h="889000">
                <a:tc>
                  <a:txBody>
                    <a:bodyPr/>
                    <a:lstStyle/>
                    <a:p>
                      <a:pPr algn="l"/>
                      <a:r>
                        <a:rPr lang="en-US" sz="1400" b="1">
                          <a:solidFill>
                            <a:srgbClr val="E8E4DC"/>
                          </a:solidFill>
                          <a:latin typeface="Georgia"/>
                        </a:rPr>
                        <a:t>Avg Block Time</a:t>
                      </a:r>
                    </a:p>
                  </a:txBody>
                  <a:tcPr anchor="ctr">
                    <a:solidFill>
                      <a:srgbClr val="050505"/>
                    </a:solidFill>
                  </a:tcPr>
                </a:tc>
                <a:tc>
                  <a:txBody>
                    <a:bodyPr/>
                    <a:lstStyle/>
                    <a:p>
                      <a:pPr algn="ctr"/>
                      <a:r>
                        <a:rPr lang="en-US" sz="1400" b="0">
                          <a:solidFill>
                            <a:srgbClr val="8A857D"/>
                          </a:solidFill>
                          <a:latin typeface="Georgia"/>
                        </a:rPr>
                        <a:t>9.8 min</a:t>
                      </a:r>
                    </a:p>
                  </a:txBody>
                  <a:tcPr anchor="ctr">
                    <a:solidFill>
                      <a:srgbClr val="050505"/>
                    </a:solidFill>
                  </a:tcPr>
                </a:tc>
                <a:tc>
                  <a:txBody>
                    <a:bodyPr/>
                    <a:lstStyle/>
                    <a:p>
                      <a:pPr algn="ctr"/>
                      <a:r>
                        <a:rPr lang="en-US" sz="1400" b="0">
                          <a:solidFill>
                            <a:srgbClr val="8A857D"/>
                          </a:solidFill>
                          <a:latin typeface="Georgia"/>
                        </a:rPr>
                        <a:t>10.1 min</a:t>
                      </a:r>
                    </a:p>
                  </a:txBody>
                  <a:tcPr anchor="ctr">
                    <a:solidFill>
                      <a:srgbClr val="050505"/>
                    </a:solidFill>
                  </a:tcPr>
                </a:tc>
                <a:tc>
                  <a:txBody>
                    <a:bodyPr/>
                    <a:lstStyle/>
                    <a:p>
                      <a:pPr algn="ctr"/>
                      <a:r>
                        <a:rPr lang="en-US" sz="1400" b="0">
                          <a:solidFill>
                            <a:srgbClr val="8A857D"/>
                          </a:solidFill>
                          <a:latin typeface="Georgia"/>
                        </a:rPr>
                        <a:t>9.9 min</a:t>
                      </a:r>
                    </a:p>
                  </a:txBody>
                  <a:tcPr anchor="ctr">
                    <a:solidFill>
                      <a:srgbClr val="050505"/>
                    </a:solidFill>
                  </a:tcPr>
                </a:tc>
                <a:extLst>
                  <a:ext uri="{0D108BD9-81ED-4DB2-BD59-A6C34878D82A}">
                    <a16:rowId xmlns:a16="http://schemas.microsoft.com/office/drawing/2014/main" val="82407905"/>
                  </a:ext>
                </a:extLst>
              </a:tr>
              <a:tr h="889000">
                <a:tc>
                  <a:txBody>
                    <a:bodyPr/>
                    <a:lstStyle/>
                    <a:p>
                      <a:pPr algn="l"/>
                      <a:r>
                        <a:rPr lang="en-US" sz="1400" b="1">
                          <a:solidFill>
                            <a:srgbClr val="E8E4DC"/>
                          </a:solidFill>
                          <a:latin typeface="Georgia"/>
                        </a:rPr>
                        <a:t>Transactions</a:t>
                      </a:r>
                    </a:p>
                  </a:txBody>
                  <a:tcPr anchor="ctr">
                    <a:solidFill>
                      <a:srgbClr val="0A0A0A"/>
                    </a:solidFill>
                  </a:tcPr>
                </a:tc>
                <a:tc>
                  <a:txBody>
                    <a:bodyPr/>
                    <a:lstStyle/>
                    <a:p>
                      <a:pPr algn="ctr"/>
                      <a:r>
                        <a:rPr lang="en-US" sz="1400" b="0">
                          <a:solidFill>
                            <a:srgbClr val="8A857D"/>
                          </a:solidFill>
                          <a:latin typeface="Georgia"/>
                        </a:rPr>
                        <a:t>412K/day</a:t>
                      </a:r>
                    </a:p>
                  </a:txBody>
                  <a:tcPr anchor="ctr">
                    <a:solidFill>
                      <a:srgbClr val="0A0A0A"/>
                    </a:solidFill>
                  </a:tcPr>
                </a:tc>
                <a:tc>
                  <a:txBody>
                    <a:bodyPr/>
                    <a:lstStyle/>
                    <a:p>
                      <a:pPr algn="ctr"/>
                      <a:r>
                        <a:rPr lang="en-US" sz="1400" b="0">
                          <a:solidFill>
                            <a:srgbClr val="8A857D"/>
                          </a:solidFill>
                          <a:latin typeface="Georgia"/>
                        </a:rPr>
                        <a:t>438K/day</a:t>
                      </a:r>
                    </a:p>
                  </a:txBody>
                  <a:tcPr anchor="ctr">
                    <a:solidFill>
                      <a:srgbClr val="0A0A0A"/>
                    </a:solidFill>
                  </a:tcPr>
                </a:tc>
                <a:tc>
                  <a:txBody>
                    <a:bodyPr/>
                    <a:lstStyle/>
                    <a:p>
                      <a:pPr algn="ctr"/>
                      <a:r>
                        <a:rPr lang="en-US" sz="1400" b="0">
                          <a:solidFill>
                            <a:srgbClr val="8A857D"/>
                          </a:solidFill>
                          <a:latin typeface="Georgia"/>
                        </a:rPr>
                        <a:t>461K/day</a:t>
                      </a:r>
                    </a:p>
                  </a:txBody>
                  <a:tcPr anchor="ctr">
                    <a:solidFill>
                      <a:srgbClr val="0A0A0A"/>
                    </a:solidFill>
                  </a:tcPr>
                </a:tc>
                <a:extLst>
                  <a:ext uri="{0D108BD9-81ED-4DB2-BD59-A6C34878D82A}">
                    <a16:rowId xmlns:a16="http://schemas.microsoft.com/office/drawing/2014/main" val="2784610325"/>
                  </a:ext>
                </a:extLst>
              </a:tr>
            </a:tbl>
          </a:graphicData>
        </a:graphic>
      </p:graphicFrame>
      <p:sp>
        <p:nvSpPr>
          <p:cNvPr id="900" name="C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D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D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006095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96"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0xE619 8A4F C3D5 0B72 67F1 3EA8 9C24 5D0B 4C8E D1A6 7523 F0B9</a:t>
            </a:r>
          </a:p>
        </p:txBody>
      </p:sp>
      <p:sp>
        <p:nvSpPr>
          <p:cNvPr id="95"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80" name="Timeline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Process Flow</a:t>
            </a:r>
          </a:p>
        </p:txBody>
      </p:sp>
      <p:sp>
        <p:nvSpPr>
          <p:cNvPr id="81" name="TimelineDivider"/>
          <p:cNvSpPr/>
          <p:nvPr/>
        </p:nvSpPr>
        <p:spPr>
          <a:xfrm>
            <a:off x="609600" y="1028700"/>
            <a:ext cx="1143000" cy="0"/>
          </a:xfrm>
          <a:prstGeom prst="line">
            <a:avLst/>
          </a:prstGeom>
          <a:ln w="12700">
            <a:solidFill>
              <a:srgbClr val="FFD700"/>
            </a:solidFill>
          </a:ln>
        </p:spPr>
        <p:txBody>
          <a:bodyPr/>
          <a:lstStyle/>
          <a:p>
            <a:endParaRPr lang="en-US"/>
          </a:p>
        </p:txBody>
      </p:sp>
      <p:sp>
        <p:nvSpPr>
          <p:cNvPr id="82" name="ConnectLine"/>
          <p:cNvSpPr/>
          <p:nvPr/>
        </p:nvSpPr>
        <p:spPr>
          <a:xfrm>
            <a:off x="1295400" y="3048000"/>
            <a:ext cx="9601200" cy="0"/>
          </a:xfrm>
          <a:prstGeom prst="line">
            <a:avLst/>
          </a:prstGeom>
          <a:ln w="12700">
            <a:solidFill>
              <a:srgbClr val="C9A84C">
                <a:alpha val="30000"/>
              </a:srgbClr>
            </a:solidFill>
          </a:ln>
        </p:spPr>
        <p:txBody>
          <a:bodyPr/>
          <a:lstStyle/>
          <a:p>
            <a:endParaRPr lang="en-US"/>
          </a:p>
        </p:txBody>
      </p:sp>
      <p:sp>
        <p:nvSpPr>
          <p:cNvPr id="83" name="StepCircle0"/>
          <p:cNvSpPr/>
          <p:nvPr/>
        </p:nvSpPr>
        <p:spPr>
          <a:xfrm>
            <a:off x="18211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01</a:t>
            </a:r>
          </a:p>
        </p:txBody>
      </p:sp>
      <p:sp>
        <p:nvSpPr>
          <p:cNvPr id="84" name="StepTitle0"/>
          <p:cNvSpPr txBox="1"/>
          <p:nvPr/>
        </p:nvSpPr>
        <p:spPr>
          <a:xfrm>
            <a:off x="8382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ONE</a:t>
            </a:r>
          </a:p>
        </p:txBody>
      </p:sp>
      <p:sp>
        <p:nvSpPr>
          <p:cNvPr id="85" name="StepDesc0"/>
          <p:cNvSpPr txBox="1"/>
          <p:nvPr/>
        </p:nvSpPr>
        <p:spPr>
          <a:xfrm>
            <a:off x="8382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first step in the process</a:t>
            </a:r>
          </a:p>
        </p:txBody>
      </p:sp>
      <p:sp>
        <p:nvSpPr>
          <p:cNvPr id="86" name="StepCircle1"/>
          <p:cNvSpPr/>
          <p:nvPr/>
        </p:nvSpPr>
        <p:spPr>
          <a:xfrm>
            <a:off x="43357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02</a:t>
            </a:r>
          </a:p>
        </p:txBody>
      </p:sp>
      <p:sp>
        <p:nvSpPr>
          <p:cNvPr id="87" name="StepTitle1"/>
          <p:cNvSpPr txBox="1"/>
          <p:nvPr/>
        </p:nvSpPr>
        <p:spPr>
          <a:xfrm>
            <a:off x="33528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TWO</a:t>
            </a:r>
          </a:p>
        </p:txBody>
      </p:sp>
      <p:sp>
        <p:nvSpPr>
          <p:cNvPr id="88" name="StepDesc1"/>
          <p:cNvSpPr txBox="1"/>
          <p:nvPr/>
        </p:nvSpPr>
        <p:spPr>
          <a:xfrm>
            <a:off x="33528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second step in the process</a:t>
            </a:r>
          </a:p>
        </p:txBody>
      </p:sp>
      <p:sp>
        <p:nvSpPr>
          <p:cNvPr id="89" name="StepCircle2"/>
          <p:cNvSpPr/>
          <p:nvPr/>
        </p:nvSpPr>
        <p:spPr>
          <a:xfrm>
            <a:off x="68503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03</a:t>
            </a:r>
          </a:p>
        </p:txBody>
      </p:sp>
      <p:sp>
        <p:nvSpPr>
          <p:cNvPr id="90" name="StepTitle2"/>
          <p:cNvSpPr txBox="1"/>
          <p:nvPr/>
        </p:nvSpPr>
        <p:spPr>
          <a:xfrm>
            <a:off x="58674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THREE</a:t>
            </a:r>
          </a:p>
        </p:txBody>
      </p:sp>
      <p:sp>
        <p:nvSpPr>
          <p:cNvPr id="91" name="StepDesc2"/>
          <p:cNvSpPr txBox="1"/>
          <p:nvPr/>
        </p:nvSpPr>
        <p:spPr>
          <a:xfrm>
            <a:off x="58674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third step in the process</a:t>
            </a:r>
          </a:p>
        </p:txBody>
      </p:sp>
      <p:sp>
        <p:nvSpPr>
          <p:cNvPr id="92" name="StepCircle3"/>
          <p:cNvSpPr/>
          <p:nvPr/>
        </p:nvSpPr>
        <p:spPr>
          <a:xfrm>
            <a:off x="93649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04</a:t>
            </a:r>
          </a:p>
        </p:txBody>
      </p:sp>
      <p:sp>
        <p:nvSpPr>
          <p:cNvPr id="93" name="StepTitle3"/>
          <p:cNvSpPr txBox="1"/>
          <p:nvPr/>
        </p:nvSpPr>
        <p:spPr>
          <a:xfrm>
            <a:off x="83820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FOUR</a:t>
            </a:r>
          </a:p>
        </p:txBody>
      </p:sp>
      <p:sp>
        <p:nvSpPr>
          <p:cNvPr id="94" name="StepDesc3"/>
          <p:cNvSpPr txBox="1"/>
          <p:nvPr/>
        </p:nvSpPr>
        <p:spPr>
          <a:xfrm>
            <a:off x="83820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fourth step in the process</a:t>
            </a:r>
          </a:p>
        </p:txBody>
      </p:sp>
      <p:sp>
        <p:nvSpPr>
          <p:cNvPr id="900" name="C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4123267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19"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0xB35F 0C92 E7D4 186A 4FB3 A2C8 5E71 0D69 6A04 F8D3 1B95 C2E7</a:t>
            </a:r>
          </a:p>
        </p:txBody>
      </p:sp>
      <p:sp>
        <p:nvSpPr>
          <p:cNvPr id="118"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100" name="Feature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Feature Grid</a:t>
            </a:r>
          </a:p>
        </p:txBody>
      </p:sp>
      <p:sp>
        <p:nvSpPr>
          <p:cNvPr id="101" name="FeatureDivider"/>
          <p:cNvSpPr/>
          <p:nvPr/>
        </p:nvSpPr>
        <p:spPr>
          <a:xfrm>
            <a:off x="609600" y="1028700"/>
            <a:ext cx="1143000" cy="0"/>
          </a:xfrm>
          <a:prstGeom prst="line">
            <a:avLst/>
          </a:prstGeom>
          <a:ln w="12700">
            <a:solidFill>
              <a:srgbClr val="FFD700"/>
            </a:solidFill>
          </a:ln>
        </p:spPr>
        <p:txBody>
          <a:bodyPr/>
          <a:lstStyle/>
          <a:p>
            <a:endParaRPr lang="en-US"/>
          </a:p>
        </p:txBody>
      </p:sp>
      <p:sp>
        <p:nvSpPr>
          <p:cNvPr id="102" name="FeatCard0"/>
          <p:cNvSpPr/>
          <p:nvPr/>
        </p:nvSpPr>
        <p:spPr>
          <a:xfrm>
            <a:off x="609600" y="12954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03" name="FeatTitle0"/>
          <p:cNvSpPr txBox="1"/>
          <p:nvPr/>
        </p:nvSpPr>
        <p:spPr>
          <a:xfrm>
            <a:off x="1371600" y="1600200"/>
            <a:ext cx="4267200" cy="381000"/>
          </a:xfrm>
          <a:prstGeom prst="rect">
            <a:avLst/>
          </a:prstGeom>
          <a:noFill/>
          <a:ln>
            <a:noFill/>
          </a:ln>
        </p:spPr>
        <p:txBody>
          <a:bodyPr anchor="ctr"/>
          <a:lstStyle/>
          <a:p>
            <a:pPr algn="l">
              <a:buNone/>
            </a:pPr>
            <a:r>
              <a:rPr lang="en-US" sz="1400" spc="400" dirty="0">
                <a:solidFill>
                  <a:srgbClr val="FFD700"/>
                </a:solidFill>
                <a:latin typeface="Georgia"/>
              </a:rPr>
              <a:t>SECURITY</a:t>
            </a:r>
          </a:p>
        </p:txBody>
      </p:sp>
      <p:sp>
        <p:nvSpPr>
          <p:cNvPr id="104" name="FeatDesc0"/>
          <p:cNvSpPr txBox="1"/>
          <p:nvPr/>
        </p:nvSpPr>
        <p:spPr>
          <a:xfrm>
            <a:off x="1371600" y="2057400"/>
            <a:ext cx="4267200" cy="914400"/>
          </a:xfrm>
          <a:prstGeom prst="rect">
            <a:avLst/>
          </a:prstGeom>
          <a:noFill/>
          <a:ln>
            <a:noFill/>
          </a:ln>
        </p:spPr>
        <p:txBody>
          <a:bodyPr anchor="t"/>
          <a:lstStyle/>
          <a:p>
            <a:pPr algn="l">
              <a:buNone/>
            </a:pPr>
            <a:r>
              <a:rPr lang="en-US" sz="1600" dirty="0">
                <a:solidFill>
                  <a:srgbClr val="8A857D"/>
                </a:solidFill>
                <a:latin typeface="Georgia"/>
              </a:rPr>
              <a:t>Cryptographic proof secures every transaction on the network</a:t>
            </a:r>
          </a:p>
        </p:txBody>
      </p:sp>
      <p:sp>
        <p:nvSpPr>
          <p:cNvPr id="105" name="FeatCard1"/>
          <p:cNvSpPr/>
          <p:nvPr/>
        </p:nvSpPr>
        <p:spPr>
          <a:xfrm>
            <a:off x="6096000" y="12954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06" name="FeatTitle1"/>
          <p:cNvSpPr txBox="1"/>
          <p:nvPr/>
        </p:nvSpPr>
        <p:spPr>
          <a:xfrm>
            <a:off x="6858000" y="1600200"/>
            <a:ext cx="4267200" cy="381000"/>
          </a:xfrm>
          <a:prstGeom prst="rect">
            <a:avLst/>
          </a:prstGeom>
          <a:noFill/>
          <a:ln>
            <a:noFill/>
          </a:ln>
        </p:spPr>
        <p:txBody>
          <a:bodyPr anchor="ctr"/>
          <a:lstStyle/>
          <a:p>
            <a:pPr algn="l">
              <a:buNone/>
            </a:pPr>
            <a:r>
              <a:rPr lang="en-US" sz="1400" spc="400" dirty="0">
                <a:solidFill>
                  <a:srgbClr val="FFD700"/>
                </a:solidFill>
                <a:latin typeface="Georgia"/>
              </a:rPr>
              <a:t>SPEED</a:t>
            </a:r>
          </a:p>
        </p:txBody>
      </p:sp>
      <p:sp>
        <p:nvSpPr>
          <p:cNvPr id="107" name="FeatDesc1"/>
          <p:cNvSpPr txBox="1"/>
          <p:nvPr/>
        </p:nvSpPr>
        <p:spPr>
          <a:xfrm>
            <a:off x="6858000" y="2057400"/>
            <a:ext cx="4267200" cy="914400"/>
          </a:xfrm>
          <a:prstGeom prst="rect">
            <a:avLst/>
          </a:prstGeom>
          <a:noFill/>
          <a:ln>
            <a:noFill/>
          </a:ln>
        </p:spPr>
        <p:txBody>
          <a:bodyPr anchor="t"/>
          <a:lstStyle/>
          <a:p>
            <a:pPr algn="l">
              <a:buNone/>
            </a:pPr>
            <a:r>
              <a:rPr lang="en-US" sz="1600" dirty="0">
                <a:solidFill>
                  <a:srgbClr val="8A857D"/>
                </a:solidFill>
                <a:latin typeface="Georgia"/>
              </a:rPr>
              <a:t>Lightning-fast transactions with second-layer solutions</a:t>
            </a:r>
          </a:p>
        </p:txBody>
      </p:sp>
      <p:sp>
        <p:nvSpPr>
          <p:cNvPr id="108" name="FeatCard2"/>
          <p:cNvSpPr/>
          <p:nvPr/>
        </p:nvSpPr>
        <p:spPr>
          <a:xfrm>
            <a:off x="609600" y="40386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09" name="FeatTitle2"/>
          <p:cNvSpPr txBox="1"/>
          <p:nvPr/>
        </p:nvSpPr>
        <p:spPr>
          <a:xfrm>
            <a:off x="1371600" y="4343400"/>
            <a:ext cx="4267200" cy="381000"/>
          </a:xfrm>
          <a:prstGeom prst="rect">
            <a:avLst/>
          </a:prstGeom>
          <a:noFill/>
          <a:ln>
            <a:noFill/>
          </a:ln>
        </p:spPr>
        <p:txBody>
          <a:bodyPr anchor="ctr"/>
          <a:lstStyle/>
          <a:p>
            <a:pPr algn="l">
              <a:buNone/>
            </a:pPr>
            <a:r>
              <a:rPr lang="en-US" sz="1400" spc="400" dirty="0">
                <a:solidFill>
                  <a:srgbClr val="FFD700"/>
                </a:solidFill>
                <a:latin typeface="Georgia"/>
              </a:rPr>
              <a:t>GLOBAL</a:t>
            </a:r>
          </a:p>
        </p:txBody>
      </p:sp>
      <p:sp>
        <p:nvSpPr>
          <p:cNvPr id="110" name="FeatDesc2"/>
          <p:cNvSpPr txBox="1"/>
          <p:nvPr/>
        </p:nvSpPr>
        <p:spPr>
          <a:xfrm>
            <a:off x="1371600" y="4800600"/>
            <a:ext cx="4267200" cy="914400"/>
          </a:xfrm>
          <a:prstGeom prst="rect">
            <a:avLst/>
          </a:prstGeom>
          <a:noFill/>
          <a:ln>
            <a:noFill/>
          </a:ln>
        </p:spPr>
        <p:txBody>
          <a:bodyPr anchor="t"/>
          <a:lstStyle/>
          <a:p>
            <a:pPr algn="l">
              <a:buNone/>
            </a:pPr>
            <a:r>
              <a:rPr lang="en-US" sz="1600" dirty="0">
                <a:solidFill>
                  <a:srgbClr val="8A857D"/>
                </a:solidFill>
                <a:latin typeface="Georgia"/>
              </a:rPr>
              <a:t>Borderless, permissionless access for anyone, anywhere</a:t>
            </a:r>
          </a:p>
        </p:txBody>
      </p:sp>
      <p:sp>
        <p:nvSpPr>
          <p:cNvPr id="111" name="FeatCard3"/>
          <p:cNvSpPr/>
          <p:nvPr/>
        </p:nvSpPr>
        <p:spPr>
          <a:xfrm>
            <a:off x="6096000" y="40386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12" name="FeatTitle3"/>
          <p:cNvSpPr txBox="1"/>
          <p:nvPr/>
        </p:nvSpPr>
        <p:spPr>
          <a:xfrm>
            <a:off x="6858000" y="4343400"/>
            <a:ext cx="4267200" cy="381000"/>
          </a:xfrm>
          <a:prstGeom prst="rect">
            <a:avLst/>
          </a:prstGeom>
          <a:noFill/>
          <a:ln>
            <a:noFill/>
          </a:ln>
        </p:spPr>
        <p:txBody>
          <a:bodyPr anchor="ctr"/>
          <a:lstStyle/>
          <a:p>
            <a:pPr algn="l">
              <a:buNone/>
            </a:pPr>
            <a:r>
              <a:rPr lang="en-US" sz="1400" spc="400" dirty="0">
                <a:solidFill>
                  <a:srgbClr val="FFD700"/>
                </a:solidFill>
                <a:latin typeface="Georgia"/>
              </a:rPr>
              <a:t>PRIVACY</a:t>
            </a:r>
          </a:p>
        </p:txBody>
      </p:sp>
      <p:sp>
        <p:nvSpPr>
          <p:cNvPr id="113" name="FeatDesc3"/>
          <p:cNvSpPr txBox="1"/>
          <p:nvPr/>
        </p:nvSpPr>
        <p:spPr>
          <a:xfrm>
            <a:off x="6858000" y="4800600"/>
            <a:ext cx="4267200" cy="914400"/>
          </a:xfrm>
          <a:prstGeom prst="rect">
            <a:avLst/>
          </a:prstGeom>
          <a:noFill/>
          <a:ln>
            <a:noFill/>
          </a:ln>
        </p:spPr>
        <p:txBody>
          <a:bodyPr anchor="t"/>
          <a:lstStyle/>
          <a:p>
            <a:pPr algn="l">
              <a:buNone/>
            </a:pPr>
            <a:r>
              <a:rPr lang="en-US" sz="1600" dirty="0">
                <a:solidFill>
                  <a:srgbClr val="8A857D"/>
                </a:solidFill>
                <a:latin typeface="Georgia"/>
              </a:rPr>
              <a:t>Self-sovereign ownership with full control of your keys</a:t>
            </a:r>
          </a:p>
        </p:txBody>
      </p:sp>
      <p:pic>
        <p:nvPicPr>
          <p:cNvPr id="114" name="Graphic 114" descr="Security shield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600" y="1524000"/>
            <a:ext cx="457200" cy="457200"/>
          </a:xfrm>
          <a:prstGeom prst="rect">
            <a:avLst/>
          </a:prstGeom>
        </p:spPr>
      </p:pic>
      <p:pic>
        <p:nvPicPr>
          <p:cNvPr id="115" name="Graphic 115" descr="Lightning bolt speed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3000" y="1524000"/>
            <a:ext cx="457200" cy="457200"/>
          </a:xfrm>
          <a:prstGeom prst="rect">
            <a:avLst/>
          </a:prstGeom>
        </p:spPr>
      </p:pic>
      <p:pic>
        <p:nvPicPr>
          <p:cNvPr id="116" name="Graphic 116" descr="Globe global access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6600" y="4292600"/>
            <a:ext cx="457200" cy="457200"/>
          </a:xfrm>
          <a:prstGeom prst="rect">
            <a:avLst/>
          </a:prstGeom>
        </p:spPr>
      </p:pic>
      <p:pic>
        <p:nvPicPr>
          <p:cNvPr id="117" name="Graphic 117" descr="Lock privacy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3000" y="4292600"/>
            <a:ext cx="457200" cy="457200"/>
          </a:xfrm>
          <a:prstGeom prst="rect">
            <a:avLst/>
          </a:prstGeom>
        </p:spPr>
      </p:pic>
      <p:sp>
        <p:nvSpPr>
          <p:cNvPr id="900" name="C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505644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23"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0x83C1 5E7D 4A06 FB29 D814 3C67 A0E5 9B2F DF42 186B A9C3 5E70</a:t>
            </a:r>
          </a:p>
        </p:txBody>
      </p:sp>
      <p:sp>
        <p:nvSpPr>
          <p:cNvPr id="122"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120" name="Chart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Chart Visualization</a:t>
            </a:r>
          </a:p>
        </p:txBody>
      </p:sp>
      <p:sp>
        <p:nvSpPr>
          <p:cNvPr id="121" name="ChartDivider"/>
          <p:cNvSpPr/>
          <p:nvPr/>
        </p:nvSpPr>
        <p:spPr>
          <a:xfrm>
            <a:off x="609600" y="1028700"/>
            <a:ext cx="1143000" cy="0"/>
          </a:xfrm>
          <a:prstGeom prst="line">
            <a:avLst/>
          </a:prstGeom>
          <a:ln w="12700">
            <a:solidFill>
              <a:srgbClr val="FFD700"/>
            </a:solidFill>
          </a:ln>
        </p:spPr>
        <p:txBody>
          <a:bodyPr/>
          <a:lstStyle/>
          <a:p>
            <a:endParaRPr lang="en-US"/>
          </a:p>
        </p:txBody>
      </p:sp>
      <p:graphicFrame>
        <p:nvGraphicFramePr>
          <p:cNvPr id="201" name="Chart 1"/>
          <p:cNvGraphicFramePr/>
          <p:nvPr/>
        </p:nvGraphicFramePr>
        <p:xfrm>
          <a:off x="609600" y="1295400"/>
          <a:ext cx="10972800"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54163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40"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0x15AE 7C43 D0F8 629B E4A7 381D 5B06 CF92 72D9 0B5E A183 C4F6</a:t>
            </a:r>
          </a:p>
        </p:txBody>
      </p:sp>
      <p:sp>
        <p:nvSpPr>
          <p:cNvPr id="139"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130" name="Term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Code / Terminal</a:t>
            </a:r>
          </a:p>
        </p:txBody>
      </p:sp>
      <p:sp>
        <p:nvSpPr>
          <p:cNvPr id="131" name="TermDivider"/>
          <p:cNvSpPr/>
          <p:nvPr/>
        </p:nvSpPr>
        <p:spPr>
          <a:xfrm>
            <a:off x="609600" y="1028700"/>
            <a:ext cx="1143000" cy="0"/>
          </a:xfrm>
          <a:prstGeom prst="line">
            <a:avLst/>
          </a:prstGeom>
          <a:ln w="12700">
            <a:solidFill>
              <a:srgbClr val="FFD700"/>
            </a:solidFill>
          </a:ln>
        </p:spPr>
        <p:txBody>
          <a:bodyPr/>
          <a:lstStyle/>
          <a:p>
            <a:endParaRPr lang="en-US"/>
          </a:p>
        </p:txBody>
      </p:sp>
      <p:sp>
        <p:nvSpPr>
          <p:cNvPr id="132" name="TermBg"/>
          <p:cNvSpPr/>
          <p:nvPr/>
        </p:nvSpPr>
        <p:spPr>
          <a:xfrm>
            <a:off x="609600" y="1295400"/>
            <a:ext cx="10972800" cy="4876800"/>
          </a:xfrm>
          <a:prstGeom prst="rect">
            <a:avLst/>
          </a:prstGeom>
          <a:solidFill>
            <a:srgbClr val="060606"/>
          </a:solidFill>
          <a:ln w="6350">
            <a:solidFill>
              <a:srgbClr val="FFD700">
                <a:alpha val="10000"/>
              </a:srgbClr>
            </a:solidFill>
          </a:ln>
        </p:spPr>
        <p:txBody>
          <a:bodyPr/>
          <a:lstStyle/>
          <a:p>
            <a:endParaRPr lang="en-US"/>
          </a:p>
        </p:txBody>
      </p:sp>
      <p:sp>
        <p:nvSpPr>
          <p:cNvPr id="133" name="TermTitleBar"/>
          <p:cNvSpPr/>
          <p:nvPr/>
        </p:nvSpPr>
        <p:spPr>
          <a:xfrm>
            <a:off x="609600" y="1295400"/>
            <a:ext cx="10972800" cy="365760"/>
          </a:xfrm>
          <a:prstGeom prst="rect">
            <a:avLst/>
          </a:prstGeom>
          <a:solidFill>
            <a:srgbClr val="0A0A0A"/>
          </a:solidFill>
          <a:ln>
            <a:noFill/>
          </a:ln>
        </p:spPr>
        <p:txBody>
          <a:bodyPr/>
          <a:lstStyle/>
          <a:p>
            <a:endParaRPr lang="en-US"/>
          </a:p>
        </p:txBody>
      </p:sp>
      <p:sp>
        <p:nvSpPr>
          <p:cNvPr id="134" name="Dot0"/>
          <p:cNvSpPr/>
          <p:nvPr/>
        </p:nvSpPr>
        <p:spPr>
          <a:xfrm>
            <a:off x="762000" y="1432560"/>
            <a:ext cx="91440" cy="91440"/>
          </a:xfrm>
          <a:prstGeom prst="ellipse">
            <a:avLst/>
          </a:prstGeom>
          <a:noFill/>
          <a:ln w="9525">
            <a:solidFill>
              <a:srgbClr val="F87171">
                <a:alpha val="50000"/>
              </a:srgbClr>
            </a:solidFill>
          </a:ln>
        </p:spPr>
        <p:txBody>
          <a:bodyPr/>
          <a:lstStyle/>
          <a:p>
            <a:endParaRPr lang="en-US"/>
          </a:p>
        </p:txBody>
      </p:sp>
      <p:sp>
        <p:nvSpPr>
          <p:cNvPr id="135" name="Dot1"/>
          <p:cNvSpPr/>
          <p:nvPr/>
        </p:nvSpPr>
        <p:spPr>
          <a:xfrm>
            <a:off x="914400" y="1432560"/>
            <a:ext cx="91440" cy="91440"/>
          </a:xfrm>
          <a:prstGeom prst="ellipse">
            <a:avLst/>
          </a:prstGeom>
          <a:noFill/>
          <a:ln w="9525">
            <a:solidFill>
              <a:srgbClr val="FACC15">
                <a:alpha val="50000"/>
              </a:srgbClr>
            </a:solidFill>
          </a:ln>
        </p:spPr>
        <p:txBody>
          <a:bodyPr/>
          <a:lstStyle/>
          <a:p>
            <a:endParaRPr lang="en-US"/>
          </a:p>
        </p:txBody>
      </p:sp>
      <p:sp>
        <p:nvSpPr>
          <p:cNvPr id="136" name="Dot2"/>
          <p:cNvSpPr/>
          <p:nvPr/>
        </p:nvSpPr>
        <p:spPr>
          <a:xfrm>
            <a:off x="1066800" y="1432560"/>
            <a:ext cx="91440" cy="91440"/>
          </a:xfrm>
          <a:prstGeom prst="ellipse">
            <a:avLst/>
          </a:prstGeom>
          <a:noFill/>
          <a:ln w="9525">
            <a:solidFill>
              <a:srgbClr val="4ADE80">
                <a:alpha val="50000"/>
              </a:srgbClr>
            </a:solidFill>
          </a:ln>
        </p:spPr>
        <p:txBody>
          <a:bodyPr/>
          <a:lstStyle/>
          <a:p>
            <a:endParaRPr lang="en-US"/>
          </a:p>
        </p:txBody>
      </p:sp>
      <p:sp>
        <p:nvSpPr>
          <p:cNvPr id="137" name="TermLabel"/>
          <p:cNvSpPr txBox="1"/>
          <p:nvPr/>
        </p:nvSpPr>
        <p:spPr>
          <a:xfrm>
            <a:off x="8229600" y="1295400"/>
            <a:ext cx="3200400" cy="365760"/>
          </a:xfrm>
          <a:prstGeom prst="rect">
            <a:avLst/>
          </a:prstGeom>
          <a:noFill/>
          <a:ln>
            <a:noFill/>
          </a:ln>
        </p:spPr>
        <p:txBody>
          <a:bodyPr anchor="ctr"/>
          <a:lstStyle/>
          <a:p>
            <a:pPr algn="r">
              <a:buNone/>
            </a:pPr>
            <a:r>
              <a:rPr lang="en-US" sz="1000" spc="300" dirty="0">
                <a:solidFill>
                  <a:srgbClr val="5A5650"/>
                </a:solidFill>
                <a:latin typeface="Consolas"/>
              </a:rPr>
              <a:t>BITCOIN-CLI</a:t>
            </a:r>
          </a:p>
        </p:txBody>
      </p:sp>
      <p:sp>
        <p:nvSpPr>
          <p:cNvPr id="138" name="TermCode"/>
          <p:cNvSpPr txBox="1"/>
          <p:nvPr/>
        </p:nvSpPr>
        <p:spPr>
          <a:xfrm>
            <a:off x="838200" y="1828800"/>
            <a:ext cx="10515600" cy="4114800"/>
          </a:xfrm>
          <a:prstGeom prst="rect">
            <a:avLst/>
          </a:prstGeom>
          <a:noFill/>
          <a:ln>
            <a:noFill/>
          </a:ln>
        </p:spPr>
        <p:txBody>
          <a:bodyPr anchor="t"/>
          <a:lstStyle/>
          <a:p>
            <a:pPr algn="l">
              <a:lnSpc>
                <a:spcPts val="2800"/>
              </a:lnSpc>
              <a:buNone/>
            </a:pPr>
            <a:r>
              <a:rPr lang="en-US" sz="1400" dirty="0">
                <a:solidFill>
                  <a:srgbClr val="FFD700"/>
                </a:solidFill>
                <a:latin typeface="Consolas"/>
              </a:rPr>
              <a:t>$ </a:t>
            </a:r>
            <a:r>
              <a:rPr lang="en-US" sz="1400" dirty="0">
                <a:solidFill>
                  <a:srgbClr val="E8E4DC"/>
                </a:solidFill>
                <a:latin typeface="Consolas"/>
              </a:rPr>
              <a:t>bitcoin-cli getblockchaininfo</a:t>
            </a:r>
          </a:p>
          <a:p>
            <a:pPr algn="l">
              <a:lnSpc>
                <a:spcPts val="2800"/>
              </a:lnSpc>
              <a:buNone/>
            </a:pPr>
            <a:r>
              <a:rPr lang="en-US" sz="1400" dirty="0">
                <a:solidFill>
                  <a:srgbClr val="8A857D"/>
                </a:solidFill>
                <a:latin typeface="Consolas"/>
              </a:rPr>
              <a:t>{</a:t>
            </a:r>
          </a:p>
          <a:p>
            <a:pPr algn="l">
              <a:lnSpc>
                <a:spcPts val="2800"/>
              </a:lnSpc>
              <a:buNone/>
            </a:pPr>
            <a:r>
              <a:rPr lang="en-US" sz="1400" dirty="0">
                <a:solidFill>
                  <a:srgbClr val="8A857D"/>
                </a:solidFill>
                <a:latin typeface="Consolas"/>
              </a:rPr>
              <a:t>  </a:t>
            </a:r>
            <a:r>
              <a:rPr lang="en-US" sz="1400" dirty="0">
                <a:solidFill>
                  <a:srgbClr val="A8C8F0"/>
                </a:solidFill>
                <a:latin typeface="Consolas"/>
              </a:rPr>
              <a:t>"chain"</a:t>
            </a:r>
            <a:r>
              <a:rPr lang="en-US" sz="1400" dirty="0">
                <a:solidFill>
                  <a:srgbClr val="8A857D"/>
                </a:solidFill>
                <a:latin typeface="Consolas"/>
              </a:rPr>
              <a:t>: </a:t>
            </a:r>
            <a:r>
              <a:rPr lang="en-US" sz="1400" dirty="0">
                <a:solidFill>
                  <a:srgbClr val="A8D8A8"/>
                </a:solidFill>
                <a:latin typeface="Consolas"/>
              </a:rPr>
              <a:t>"main"</a:t>
            </a:r>
            <a:r>
              <a:rPr lang="en-US" sz="1400" dirty="0">
                <a:solidFill>
                  <a:srgbClr val="8A857D"/>
                </a:solidFill>
                <a:latin typeface="Consolas"/>
              </a:rPr>
              <a:t>,</a:t>
            </a:r>
          </a:p>
          <a:p>
            <a:pPr algn="l">
              <a:lnSpc>
                <a:spcPts val="2800"/>
              </a:lnSpc>
              <a:buNone/>
            </a:pPr>
            <a:r>
              <a:rPr lang="en-US" sz="1400" dirty="0">
                <a:solidFill>
                  <a:srgbClr val="8A857D"/>
                </a:solidFill>
                <a:latin typeface="Consolas"/>
              </a:rPr>
              <a:t>  </a:t>
            </a:r>
            <a:r>
              <a:rPr lang="en-US" sz="1400" dirty="0">
                <a:solidFill>
                  <a:srgbClr val="A8C8F0"/>
                </a:solidFill>
                <a:latin typeface="Consolas"/>
              </a:rPr>
              <a:t>"blocks"</a:t>
            </a:r>
            <a:r>
              <a:rPr lang="en-US" sz="1400" dirty="0">
                <a:solidFill>
                  <a:srgbClr val="8A857D"/>
                </a:solidFill>
                <a:latin typeface="Consolas"/>
              </a:rPr>
              <a:t>: </a:t>
            </a:r>
            <a:r>
              <a:rPr lang="en-US" sz="1400" dirty="0">
                <a:solidFill>
                  <a:srgbClr val="F0A8A8"/>
                </a:solidFill>
                <a:latin typeface="Consolas"/>
              </a:rPr>
              <a:t>881247</a:t>
            </a:r>
            <a:r>
              <a:rPr lang="en-US" sz="1400" dirty="0">
                <a:solidFill>
                  <a:srgbClr val="8A857D"/>
                </a:solidFill>
                <a:latin typeface="Consolas"/>
              </a:rPr>
              <a:t>,</a:t>
            </a:r>
          </a:p>
          <a:p>
            <a:pPr algn="l">
              <a:lnSpc>
                <a:spcPts val="2800"/>
              </a:lnSpc>
              <a:buNone/>
            </a:pPr>
            <a:r>
              <a:rPr lang="en-US" sz="1400" dirty="0">
                <a:solidFill>
                  <a:srgbClr val="8A857D"/>
                </a:solidFill>
                <a:latin typeface="Consolas"/>
              </a:rPr>
              <a:t>  </a:t>
            </a:r>
            <a:r>
              <a:rPr lang="en-US" sz="1400" dirty="0">
                <a:solidFill>
                  <a:srgbClr val="A8C8F0"/>
                </a:solidFill>
                <a:latin typeface="Consolas"/>
              </a:rPr>
              <a:t>"difficulty"</a:t>
            </a:r>
            <a:r>
              <a:rPr lang="en-US" sz="1400" dirty="0">
                <a:solidFill>
                  <a:srgbClr val="8A857D"/>
                </a:solidFill>
                <a:latin typeface="Consolas"/>
              </a:rPr>
              <a:t>: </a:t>
            </a:r>
            <a:r>
              <a:rPr lang="en-US" sz="1400" dirty="0">
                <a:solidFill>
                  <a:srgbClr val="F0A8A8"/>
                </a:solidFill>
                <a:latin typeface="Consolas"/>
              </a:rPr>
              <a:t>85.63e12</a:t>
            </a:r>
          </a:p>
          <a:p>
            <a:pPr algn="l">
              <a:lnSpc>
                <a:spcPts val="2800"/>
              </a:lnSpc>
              <a:buNone/>
            </a:pPr>
            <a:r>
              <a:rPr lang="en-US" sz="1400" dirty="0">
                <a:solidFill>
                  <a:srgbClr val="8A857D"/>
                </a:solidFill>
                <a:latin typeface="Consolas"/>
              </a:rPr>
              <a:t>}</a:t>
            </a:r>
          </a:p>
          <a:p>
            <a:pPr algn="l">
              <a:lnSpc>
                <a:spcPts val="2800"/>
              </a:lnSpc>
              <a:buNone/>
            </a:pPr>
            <a:r>
              <a:rPr lang="en-US" sz="1400" dirty="0">
                <a:solidFill>
                  <a:srgbClr val="FFD700"/>
                </a:solidFill>
                <a:latin typeface="Consolas"/>
              </a:rPr>
              <a:t>$ █ hello there</a:t>
            </a:r>
          </a:p>
        </p:txBody>
      </p:sp>
      <p:sp>
        <p:nvSpPr>
          <p:cNvPr id="900" name="C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D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D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677721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40" name="ClosingLineTop"/>
          <p:cNvSpPr/>
          <p:nvPr/>
        </p:nvSpPr>
        <p:spPr>
          <a:xfrm>
            <a:off x="5181600" y="1828800"/>
            <a:ext cx="1828800" cy="0"/>
          </a:xfrm>
          <a:prstGeom prst="line">
            <a:avLst/>
          </a:prstGeom>
          <a:ln w="9525">
            <a:solidFill>
              <a:srgbClr val="C9A84C"/>
            </a:solidFill>
          </a:ln>
        </p:spPr>
        <p:txBody>
          <a:bodyPr/>
          <a:lstStyle/>
          <a:p>
            <a:endParaRPr lang="en-US"/>
          </a:p>
        </p:txBody>
      </p:sp>
      <p:sp>
        <p:nvSpPr>
          <p:cNvPr id="141" name="ClosingHead"/>
          <p:cNvSpPr txBox="1"/>
          <p:nvPr/>
        </p:nvSpPr>
        <p:spPr>
          <a:xfrm>
            <a:off x="1371600" y="2057400"/>
            <a:ext cx="9448800" cy="914400"/>
          </a:xfrm>
          <a:prstGeom prst="rect">
            <a:avLst/>
          </a:prstGeom>
          <a:noFill/>
          <a:ln>
            <a:noFill/>
          </a:ln>
        </p:spPr>
        <p:txBody>
          <a:bodyPr anchor="ctr"/>
          <a:lstStyle/>
          <a:p>
            <a:pPr algn="ctr">
              <a:buNone/>
            </a:pPr>
            <a:r>
              <a:rPr lang="en-US" sz="4000" spc="100" dirty="0">
                <a:solidFill>
                  <a:srgbClr val="E8E4DC"/>
                </a:solidFill>
                <a:latin typeface="Georgia"/>
              </a:rPr>
              <a:t>Thank You</a:t>
            </a:r>
          </a:p>
        </p:txBody>
      </p:sp>
      <p:sp>
        <p:nvSpPr>
          <p:cNvPr id="142" name="ClosingSub"/>
          <p:cNvSpPr txBox="1"/>
          <p:nvPr/>
        </p:nvSpPr>
        <p:spPr>
          <a:xfrm>
            <a:off x="1371600" y="3048000"/>
            <a:ext cx="9448800" cy="457200"/>
          </a:xfrm>
          <a:prstGeom prst="rect">
            <a:avLst/>
          </a:prstGeom>
          <a:noFill/>
          <a:ln>
            <a:noFill/>
          </a:ln>
        </p:spPr>
        <p:txBody>
          <a:bodyPr anchor="t"/>
          <a:lstStyle/>
          <a:p>
            <a:pPr algn="ctr">
              <a:buNone/>
            </a:pPr>
            <a:r>
              <a:rPr lang="en-US" sz="1800" dirty="0">
                <a:solidFill>
                  <a:srgbClr val="8A857D"/>
                </a:solidFill>
                <a:latin typeface="Georgia"/>
              </a:rPr>
              <a:t>Questions, feedback, or collaboration inquiries</a:t>
            </a:r>
          </a:p>
        </p:txBody>
      </p:sp>
      <p:sp>
        <p:nvSpPr>
          <p:cNvPr id="143" name="CTAButton"/>
          <p:cNvSpPr/>
          <p:nvPr/>
        </p:nvSpPr>
        <p:spPr>
          <a:xfrm>
            <a:off x="4572000" y="3733800"/>
            <a:ext cx="3048000" cy="457200"/>
          </a:xfrm>
          <a:prstGeom prst="rect">
            <a:avLst/>
          </a:prstGeom>
          <a:solidFill>
            <a:srgbClr val="FFD700"/>
          </a:solidFill>
          <a:ln>
            <a:noFill/>
          </a:ln>
        </p:spPr>
        <p:txBody>
          <a:bodyPr lIns="0" tIns="0" rIns="0" bIns="0" anchor="ctr" anchorCtr="1"/>
          <a:lstStyle/>
          <a:p>
            <a:pPr algn="ctr">
              <a:buNone/>
            </a:pPr>
            <a:r>
              <a:rPr lang="en-US" sz="1400" b="1" spc="400" dirty="0">
                <a:solidFill>
                  <a:srgbClr val="000000"/>
                </a:solidFill>
                <a:latin typeface="Georgia"/>
              </a:rPr>
              <a:t>GET IN TOUCH</a:t>
            </a:r>
          </a:p>
        </p:txBody>
      </p:sp>
      <p:sp>
        <p:nvSpPr>
          <p:cNvPr id="144" name="ClosingLineBot"/>
          <p:cNvSpPr/>
          <p:nvPr/>
        </p:nvSpPr>
        <p:spPr>
          <a:xfrm>
            <a:off x="5181600" y="4572000"/>
            <a:ext cx="1828800" cy="0"/>
          </a:xfrm>
          <a:prstGeom prst="line">
            <a:avLst/>
          </a:prstGeom>
          <a:ln w="9525">
            <a:solidFill>
              <a:srgbClr val="C9A84C"/>
            </a:solidFill>
          </a:ln>
        </p:spPr>
        <p:txBody>
          <a:bodyPr/>
          <a:lstStyle/>
          <a:p>
            <a:endParaRPr lang="en-US"/>
          </a:p>
        </p:txBody>
      </p:sp>
      <p:sp>
        <p:nvSpPr>
          <p:cNvPr id="145" name="ContactInfo"/>
          <p:cNvSpPr txBox="1"/>
          <p:nvPr/>
        </p:nvSpPr>
        <p:spPr>
          <a:xfrm>
            <a:off x="1371600" y="4800600"/>
            <a:ext cx="9448800" cy="457200"/>
          </a:xfrm>
          <a:prstGeom prst="rect">
            <a:avLst/>
          </a:prstGeom>
          <a:noFill/>
          <a:ln>
            <a:noFill/>
          </a:ln>
        </p:spPr>
        <p:txBody>
          <a:bodyPr anchor="t"/>
          <a:lstStyle/>
          <a:p>
            <a:pPr algn="ctr">
              <a:buNone/>
            </a:pPr>
            <a:r>
              <a:rPr lang="en-US" sz="1400" spc="200" dirty="0">
                <a:solidFill>
                  <a:srgbClr val="5A5650"/>
                </a:solidFill>
                <a:latin typeface="Georgia"/>
              </a:rPr>
              <a:t>email@example.com  •  thebitcoinbreakdown.com</a:t>
            </a:r>
          </a:p>
        </p:txBody>
      </p:sp>
      <p:sp>
        <p:nvSpPr>
          <p:cNvPr id="146" name="ClosingHash"/>
          <p:cNvSpPr txBox="1"/>
          <p:nvPr/>
        </p:nvSpPr>
        <p:spPr>
          <a:xfrm>
            <a:off x="457200" y="6172200"/>
            <a:ext cx="11277600" cy="228600"/>
          </a:xfrm>
          <a:prstGeom prst="rect">
            <a:avLst/>
          </a:prstGeom>
          <a:noFill/>
          <a:ln>
            <a:noFill/>
          </a:ln>
        </p:spPr>
        <p:txBody>
          <a:bodyPr anchor="ctr"/>
          <a:lstStyle/>
          <a:p>
            <a:pPr algn="ctr">
              <a:buNone/>
            </a:pPr>
            <a:r>
              <a:rPr lang="en-US" sz="800" spc="200" dirty="0">
                <a:solidFill>
                  <a:srgbClr val="E8E4DC">
                    <a:alpha val="10000"/>
                  </a:srgbClr>
                </a:solidFill>
                <a:latin typeface="Consolas"/>
              </a:rPr>
              <a:t>0xB3D7F2A1E8C04569  •  PROOF-OF-WORK  •  0x9F1A3C7E5B2D8046</a:t>
            </a:r>
          </a:p>
        </p:txBody>
      </p:sp>
      <p:sp>
        <p:nvSpPr>
          <p:cNvPr id="900" name="C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4055868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50" name="PhotoPlaceholder"/>
          <p:cNvSpPr/>
          <p:nvPr/>
        </p:nvSpPr>
        <p:spPr>
          <a:xfrm>
            <a:off x="0" y="0"/>
            <a:ext cx="12192000" cy="6858000"/>
          </a:xfrm>
          <a:prstGeom prst="rect">
            <a:avLst/>
          </a:prstGeom>
          <a:solidFill>
            <a:srgbClr val="0A0A0A"/>
          </a:solidFill>
          <a:ln>
            <a:noFill/>
          </a:ln>
        </p:spPr>
        <p:txBody>
          <a:bodyPr anchor="ctr" anchorCtr="1"/>
          <a:lstStyle/>
          <a:p>
            <a:pPr algn="ctr">
              <a:buNone/>
            </a:pPr>
            <a:r>
              <a:rPr lang="en-US" sz="1400" spc="300" dirty="0">
                <a:solidFill>
                  <a:srgbClr val="5A5650"/>
                </a:solidFill>
                <a:latin typeface="Georgia"/>
              </a:rPr>
              <a:t>INSERT IMAGE HERE</a:t>
            </a:r>
          </a:p>
          <a:p>
            <a:pPr algn="ctr">
              <a:buNone/>
            </a:pPr>
            <a:r>
              <a:rPr lang="en-US" sz="1100" dirty="0">
                <a:solidFill>
                  <a:srgbClr val="5A5650"/>
                </a:solidFill>
                <a:latin typeface="Georgia"/>
              </a:rPr>
              <a:t>Right-click and select "Format Shape" to add a picture fill</a:t>
            </a:r>
          </a:p>
        </p:txBody>
      </p:sp>
      <p:sp>
        <p:nvSpPr>
          <p:cNvPr id="152" name="BottomScrim"/>
          <p:cNvSpPr/>
          <p:nvPr/>
        </p:nvSpPr>
        <p:spPr>
          <a:xfrm>
            <a:off x="0" y="3429000"/>
            <a:ext cx="12192000" cy="3429000"/>
          </a:xfrm>
          <a:prstGeom prst="rect">
            <a:avLst/>
          </a:prstGeom>
          <a:gradFill>
            <a:gsLst>
              <a:gs pos="0">
                <a:srgbClr val="000000">
                  <a:alpha val="0"/>
                </a:srgbClr>
              </a:gs>
              <a:gs pos="60000">
                <a:srgbClr val="000000">
                  <a:alpha val="70000"/>
                </a:srgbClr>
              </a:gs>
              <a:gs pos="100000">
                <a:srgbClr val="000000">
                  <a:alpha val="90000"/>
                </a:srgbClr>
              </a:gs>
            </a:gsLst>
            <a:lin ang="5400000" scaled="1"/>
          </a:gradFill>
          <a:ln>
            <a:noFill/>
          </a:ln>
        </p:spPr>
        <p:txBody>
          <a:bodyPr/>
          <a:lstStyle/>
          <a:p>
            <a:endParaRPr lang="en-US"/>
          </a:p>
        </p:txBody>
      </p:sp>
      <p:sp>
        <p:nvSpPr>
          <p:cNvPr id="153" name="PhotoOverline"/>
          <p:cNvSpPr txBox="1"/>
          <p:nvPr/>
        </p:nvSpPr>
        <p:spPr>
          <a:xfrm>
            <a:off x="609600" y="4724400"/>
            <a:ext cx="10972800" cy="274320"/>
          </a:xfrm>
          <a:prstGeom prst="rect">
            <a:avLst/>
          </a:prstGeom>
          <a:noFill/>
          <a:ln>
            <a:noFill/>
          </a:ln>
        </p:spPr>
        <p:txBody>
          <a:bodyPr anchor="b"/>
          <a:lstStyle/>
          <a:p>
            <a:pPr algn="l">
              <a:buNone/>
            </a:pPr>
            <a:r>
              <a:rPr lang="en-US" sz="1000" spc="500" dirty="0">
                <a:solidFill>
                  <a:srgbClr val="FFD700"/>
                </a:solidFill>
                <a:latin typeface="Georgia"/>
              </a:rPr>
              <a:t>PHOTO CATEGORY</a:t>
            </a:r>
          </a:p>
        </p:txBody>
      </p:sp>
      <p:sp>
        <p:nvSpPr>
          <p:cNvPr id="154" name="PhotoTitle"/>
          <p:cNvSpPr txBox="1"/>
          <p:nvPr/>
        </p:nvSpPr>
        <p:spPr>
          <a:xfrm>
            <a:off x="609600" y="5029200"/>
            <a:ext cx="8534400" cy="762000"/>
          </a:xfrm>
          <a:prstGeom prst="rect">
            <a:avLst/>
          </a:prstGeom>
          <a:noFill/>
          <a:ln>
            <a:noFill/>
          </a:ln>
        </p:spPr>
        <p:txBody>
          <a:bodyPr anchor="t"/>
          <a:lstStyle/>
          <a:p>
            <a:pPr algn="l">
              <a:buNone/>
            </a:pPr>
            <a:r>
              <a:rPr lang="en-US" sz="2800" spc="50" dirty="0">
                <a:solidFill>
                  <a:srgbClr val="E8E4DC"/>
                </a:solidFill>
                <a:latin typeface="Georgia"/>
              </a:rPr>
              <a:t>Image Title or Description</a:t>
            </a:r>
          </a:p>
        </p:txBody>
      </p:sp>
      <p:sp>
        <p:nvSpPr>
          <p:cNvPr id="155" name="PhotoCaption"/>
          <p:cNvSpPr txBox="1"/>
          <p:nvPr/>
        </p:nvSpPr>
        <p:spPr>
          <a:xfrm>
            <a:off x="609600" y="5867400"/>
            <a:ext cx="8534400" cy="381000"/>
          </a:xfrm>
          <a:prstGeom prst="rect">
            <a:avLst/>
          </a:prstGeom>
          <a:noFill/>
          <a:ln>
            <a:noFill/>
          </a:ln>
        </p:spPr>
        <p:txBody>
          <a:bodyPr anchor="t"/>
          <a:lstStyle/>
          <a:p>
            <a:pPr algn="l">
              <a:buNone/>
            </a:pPr>
            <a:r>
              <a:rPr lang="en-US" sz="1200" i="1" spc="200" dirty="0">
                <a:solidFill>
                  <a:srgbClr val="8A857D"/>
                </a:solidFill>
                <a:latin typeface="Georgia"/>
              </a:rPr>
              <a:t>Photo caption or source attribution  •  2026</a:t>
            </a:r>
          </a:p>
        </p:txBody>
      </p:sp>
      <p:sp>
        <p:nvSpPr>
          <p:cNvPr id="960" name="C96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61" name="C96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62" name="C963"/>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63" name="C964"/>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64" name="C965"/>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65" name="C966"/>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66" name="C967"/>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67" name="C968"/>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68" name="C969"/>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69" name="C970"/>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70" name="C97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71" name="C97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36715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60" name="EmbedCard"/>
          <p:cNvSpPr/>
          <p:nvPr/>
        </p:nvSpPr>
        <p:spPr>
          <a:xfrm>
            <a:off x="1524000" y="457200"/>
            <a:ext cx="9144000" cy="59436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161" name="EmbedTitleBar"/>
          <p:cNvSpPr/>
          <p:nvPr/>
        </p:nvSpPr>
        <p:spPr>
          <a:xfrm>
            <a:off x="1524000" y="457200"/>
            <a:ext cx="9144000" cy="365760"/>
          </a:xfrm>
          <a:prstGeom prst="rect">
            <a:avLst/>
          </a:prstGeom>
          <a:solidFill>
            <a:srgbClr val="060606"/>
          </a:solidFill>
          <a:ln>
            <a:noFill/>
          </a:ln>
        </p:spPr>
        <p:txBody>
          <a:bodyPr/>
          <a:lstStyle/>
          <a:p>
            <a:endParaRPr lang="en-US"/>
          </a:p>
        </p:txBody>
      </p:sp>
      <p:sp>
        <p:nvSpPr>
          <p:cNvPr id="162" name="SourceLabel"/>
          <p:cNvSpPr txBox="1"/>
          <p:nvPr/>
        </p:nvSpPr>
        <p:spPr>
          <a:xfrm>
            <a:off x="1752600" y="457200"/>
            <a:ext cx="2286000" cy="365760"/>
          </a:xfrm>
          <a:prstGeom prst="rect">
            <a:avLst/>
          </a:prstGeom>
          <a:noFill/>
          <a:ln>
            <a:noFill/>
          </a:ln>
        </p:spPr>
        <p:txBody>
          <a:bodyPr anchor="ctr"/>
          <a:lstStyle/>
          <a:p>
            <a:pPr algn="l">
              <a:buNone/>
            </a:pPr>
            <a:r>
              <a:rPr lang="en-US" sz="1000" spc="400" dirty="0">
                <a:solidFill>
                  <a:srgbClr val="FFD700"/>
                </a:solidFill>
                <a:latin typeface="Consolas"/>
              </a:rPr>
              <a:t>𝕏 POST</a:t>
            </a:r>
          </a:p>
        </p:txBody>
      </p:sp>
      <p:sp>
        <p:nvSpPr>
          <p:cNvPr id="163" name="SourceURL"/>
          <p:cNvSpPr txBox="1"/>
          <p:nvPr/>
        </p:nvSpPr>
        <p:spPr>
          <a:xfrm>
            <a:off x="7010400" y="457200"/>
            <a:ext cx="3429000" cy="365760"/>
          </a:xfrm>
          <a:prstGeom prst="rect">
            <a:avLst/>
          </a:prstGeom>
          <a:noFill/>
          <a:ln>
            <a:noFill/>
          </a:ln>
        </p:spPr>
        <p:txBody>
          <a:bodyPr anchor="ctr"/>
          <a:lstStyle/>
          <a:p>
            <a:pPr algn="r">
              <a:buNone/>
            </a:pPr>
            <a:r>
              <a:rPr lang="en-US" sz="900" spc="200" dirty="0">
                <a:solidFill>
                  <a:srgbClr val="5A5650"/>
                </a:solidFill>
                <a:latin typeface="Consolas"/>
              </a:rPr>
              <a:t>x.com/username  •  FEB 2026</a:t>
            </a:r>
          </a:p>
        </p:txBody>
      </p:sp>
      <p:sp>
        <p:nvSpPr>
          <p:cNvPr id="164" name="ScreenshotArea"/>
          <p:cNvSpPr/>
          <p:nvPr/>
        </p:nvSpPr>
        <p:spPr>
          <a:xfrm>
            <a:off x="1752600" y="981710"/>
            <a:ext cx="8686800" cy="4733290"/>
          </a:xfrm>
          <a:prstGeom prst="rect">
            <a:avLst/>
          </a:prstGeom>
          <a:solidFill>
            <a:srgbClr val="060606"/>
          </a:solidFill>
          <a:ln w="6350">
            <a:solidFill>
              <a:srgbClr val="C9A84C">
                <a:alpha val="10000"/>
              </a:srgbClr>
            </a:solidFill>
          </a:ln>
        </p:spPr>
        <p:txBody>
          <a:bodyPr anchor="ctr" anchorCtr="1"/>
          <a:lstStyle/>
          <a:p>
            <a:pPr algn="ctr">
              <a:buNone/>
            </a:pPr>
            <a:r>
              <a:rPr lang="en-US" sz="1400" spc="300" dirty="0">
                <a:solidFill>
                  <a:srgbClr val="5A5650"/>
                </a:solidFill>
                <a:latin typeface="Georgia"/>
              </a:rPr>
              <a:t>PASTE SCREENSHOT HERE</a:t>
            </a:r>
          </a:p>
        </p:txBody>
      </p:sp>
      <p:sp>
        <p:nvSpPr>
          <p:cNvPr id="165" name="EmbedAttribution"/>
          <p:cNvSpPr txBox="1"/>
          <p:nvPr/>
        </p:nvSpPr>
        <p:spPr>
          <a:xfrm>
            <a:off x="1752600" y="5791200"/>
            <a:ext cx="8686800" cy="457200"/>
          </a:xfrm>
          <a:prstGeom prst="rect">
            <a:avLst/>
          </a:prstGeom>
          <a:noFill/>
          <a:ln>
            <a:noFill/>
          </a:ln>
        </p:spPr>
        <p:txBody>
          <a:bodyPr anchor="ctr"/>
          <a:lstStyle/>
          <a:p>
            <a:pPr algn="l">
              <a:buNone/>
            </a:pPr>
            <a:r>
              <a:rPr lang="en-US" sz="1400" i="1" dirty="0">
                <a:solidFill>
                  <a:srgbClr val="8A857D"/>
                </a:solidFill>
                <a:latin typeface="Georgia"/>
              </a:rPr>
              <a:t>“Key quote or excerpt from the source...”</a:t>
            </a:r>
          </a:p>
        </p:txBody>
      </p:sp>
      <p:sp>
        <p:nvSpPr>
          <p:cNvPr id="970" name="C97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71" name="C97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72" name="C97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73" name="C97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74" name="D97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75" name="C97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76" name="C97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77" name="C97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78" name="C97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79" name="D98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06037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70" name="Video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Video Title</a:t>
            </a:r>
          </a:p>
        </p:txBody>
      </p:sp>
      <p:sp>
        <p:nvSpPr>
          <p:cNvPr id="171" name="VideoDivider"/>
          <p:cNvSpPr/>
          <p:nvPr/>
        </p:nvSpPr>
        <p:spPr>
          <a:xfrm>
            <a:off x="609600" y="1028700"/>
            <a:ext cx="1143000" cy="0"/>
          </a:xfrm>
          <a:prstGeom prst="line">
            <a:avLst/>
          </a:prstGeom>
          <a:ln w="12700">
            <a:solidFill>
              <a:srgbClr val="FFD700"/>
            </a:solidFill>
          </a:ln>
        </p:spPr>
        <p:txBody>
          <a:bodyPr/>
          <a:lstStyle/>
          <a:p>
            <a:endParaRPr lang="en-US"/>
          </a:p>
        </p:txBody>
      </p:sp>
      <p:sp>
        <p:nvSpPr>
          <p:cNvPr id="172" name="VideoPlaceholder"/>
          <p:cNvSpPr/>
          <p:nvPr/>
        </p:nvSpPr>
        <p:spPr>
          <a:xfrm>
            <a:off x="609600" y="1295400"/>
            <a:ext cx="10972800" cy="4114800"/>
          </a:xfrm>
          <a:prstGeom prst="rect">
            <a:avLst/>
          </a:prstGeom>
          <a:solidFill>
            <a:srgbClr val="060606"/>
          </a:solidFill>
          <a:ln w="6350">
            <a:solidFill>
              <a:srgbClr val="FFD700">
                <a:alpha val="8000"/>
              </a:srgbClr>
            </a:solidFill>
          </a:ln>
          <a:effectLst>
            <a:outerShdw blurRad="76200" dist="25400" dir="5400000" algn="bl" rotWithShape="0">
              <a:srgbClr val="C9A84C">
                <a:alpha val="10000"/>
              </a:srgbClr>
            </a:outerShdw>
          </a:effectLst>
        </p:spPr>
        <p:txBody>
          <a:bodyPr anchor="ctr" anchorCtr="1"/>
          <a:lstStyle/>
          <a:p>
            <a:pPr algn="ctr">
              <a:buNone/>
            </a:pPr>
            <a:r>
              <a:rPr lang="en-US" sz="1100" spc="300" dirty="0">
                <a:solidFill>
                  <a:srgbClr val="5A5650"/>
                </a:solidFill>
                <a:latin typeface="Georgia"/>
              </a:rPr>
              <a:t>INSERT VIDEO OR THUMBNAIL HERE</a:t>
            </a:r>
          </a:p>
        </p:txBody>
      </p:sp>
      <p:sp>
        <p:nvSpPr>
          <p:cNvPr id="173" name="PlayButton"/>
          <p:cNvSpPr/>
          <p:nvPr/>
        </p:nvSpPr>
        <p:spPr>
          <a:xfrm>
            <a:off x="5867400" y="3009900"/>
            <a:ext cx="457200" cy="457200"/>
          </a:xfrm>
          <a:prstGeom prst="ellipse">
            <a:avLst/>
          </a:prstGeom>
          <a:noFill/>
          <a:ln w="19050">
            <a:solidFill>
              <a:srgbClr val="FFD700">
                <a:alpha val="40000"/>
              </a:srgbClr>
            </a:solidFill>
          </a:ln>
        </p:spPr>
        <p:txBody>
          <a:bodyPr wrap="none" lIns="0" tIns="0" rIns="0" bIns="0" anchor="ctr" anchorCtr="1"/>
          <a:lstStyle/>
          <a:p>
            <a:pPr algn="ctr">
              <a:buNone/>
            </a:pPr>
            <a:r>
              <a:rPr lang="en-US" sz="2400" dirty="0">
                <a:solidFill>
                  <a:srgbClr val="FFD700">
                    <a:alpha val="50000"/>
                  </a:srgbClr>
                </a:solidFill>
                <a:latin typeface="Arial"/>
              </a:rPr>
              <a:t>▶</a:t>
            </a:r>
          </a:p>
        </p:txBody>
      </p:sp>
      <p:sp>
        <p:nvSpPr>
          <p:cNvPr id="174" name="VideoDesc"/>
          <p:cNvSpPr txBox="1"/>
          <p:nvPr/>
        </p:nvSpPr>
        <p:spPr>
          <a:xfrm>
            <a:off x="609600" y="5562600"/>
            <a:ext cx="7620000" cy="457200"/>
          </a:xfrm>
          <a:prstGeom prst="rect">
            <a:avLst/>
          </a:prstGeom>
          <a:noFill/>
          <a:ln>
            <a:noFill/>
          </a:ln>
        </p:spPr>
        <p:txBody>
          <a:bodyPr anchor="t"/>
          <a:lstStyle/>
          <a:p>
            <a:pPr algn="l">
              <a:buNone/>
            </a:pPr>
            <a:r>
              <a:rPr lang="en-US" sz="1400" dirty="0">
                <a:solidFill>
                  <a:srgbClr val="8A857D"/>
                </a:solidFill>
                <a:latin typeface="Georgia"/>
              </a:rPr>
              <a:t>Brief description of the video content or context</a:t>
            </a:r>
          </a:p>
        </p:txBody>
      </p:sp>
      <p:sp>
        <p:nvSpPr>
          <p:cNvPr id="175" name="VideoSource"/>
          <p:cNvSpPr txBox="1"/>
          <p:nvPr/>
        </p:nvSpPr>
        <p:spPr>
          <a:xfrm>
            <a:off x="8382000" y="5562600"/>
            <a:ext cx="3200400" cy="457200"/>
          </a:xfrm>
          <a:prstGeom prst="rect">
            <a:avLst/>
          </a:prstGeom>
          <a:noFill/>
          <a:ln>
            <a:noFill/>
          </a:ln>
        </p:spPr>
        <p:txBody>
          <a:bodyPr anchor="t"/>
          <a:lstStyle/>
          <a:p>
            <a:pPr algn="r">
              <a:buNone/>
            </a:pPr>
            <a:r>
              <a:rPr lang="en-US" sz="1000" spc="200" dirty="0">
                <a:solidFill>
                  <a:srgbClr val="5A5650"/>
                </a:solidFill>
                <a:latin typeface="Consolas"/>
              </a:rPr>
              <a:t>SOURCE: YOUTUBE.COM</a:t>
            </a:r>
          </a:p>
        </p:txBody>
      </p:sp>
      <p:sp>
        <p:nvSpPr>
          <p:cNvPr id="980" name="C98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81" name="C98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82" name="C98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83" name="C98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84" name="C98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85" name="C98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86" name="C98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87" name="C98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337532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80" name="BigNum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181" name="BigNumOverline"/>
          <p:cNvSpPr txBox="1"/>
          <p:nvPr/>
        </p:nvSpPr>
        <p:spPr>
          <a:xfrm>
            <a:off x="1371600" y="1371600"/>
            <a:ext cx="9448800" cy="304800"/>
          </a:xfrm>
          <a:prstGeom prst="rect">
            <a:avLst/>
          </a:prstGeom>
          <a:noFill/>
          <a:ln>
            <a:noFill/>
          </a:ln>
        </p:spPr>
        <p:txBody>
          <a:bodyPr anchor="b"/>
          <a:lstStyle/>
          <a:p>
            <a:pPr algn="ctr">
              <a:buNone/>
            </a:pPr>
            <a:r>
              <a:rPr lang="en-US" sz="1100" spc="500" dirty="0">
                <a:solidFill>
                  <a:srgbClr val="C9A84C"/>
                </a:solidFill>
                <a:latin typeface="Georgia"/>
              </a:rPr>
              <a:t>METRIC LABEL</a:t>
            </a:r>
          </a:p>
        </p:txBody>
      </p:sp>
      <p:sp>
        <p:nvSpPr>
          <p:cNvPr id="182" name="BigNumLineTop"/>
          <p:cNvSpPr/>
          <p:nvPr/>
        </p:nvSpPr>
        <p:spPr>
          <a:xfrm>
            <a:off x="5181600" y="1752600"/>
            <a:ext cx="1828800" cy="0"/>
          </a:xfrm>
          <a:prstGeom prst="line">
            <a:avLst/>
          </a:prstGeom>
          <a:ln w="9525">
            <a:solidFill>
              <a:srgbClr val="FFD700">
                <a:alpha val="40000"/>
              </a:srgbClr>
            </a:solidFill>
          </a:ln>
        </p:spPr>
        <p:txBody>
          <a:bodyPr/>
          <a:lstStyle/>
          <a:p>
            <a:endParaRPr lang="en-US"/>
          </a:p>
        </p:txBody>
      </p:sp>
      <p:sp>
        <p:nvSpPr>
          <p:cNvPr id="183" name="BigNumber"/>
          <p:cNvSpPr txBox="1"/>
          <p:nvPr/>
        </p:nvSpPr>
        <p:spPr>
          <a:xfrm>
            <a:off x="609600" y="1905000"/>
            <a:ext cx="10972800" cy="1828800"/>
          </a:xfrm>
          <a:prstGeom prst="rect">
            <a:avLst/>
          </a:prstGeom>
          <a:noFill/>
          <a:ln>
            <a:noFill/>
          </a:ln>
        </p:spPr>
        <p:txBody>
          <a:bodyPr anchor="ctr"/>
          <a:lstStyle/>
          <a:p>
            <a:pPr algn="ctr">
              <a:buNone/>
            </a:pPr>
            <a:r>
              <a:rPr lang="en-US" sz="9600" spc="100" dirty="0">
                <a:solidFill>
                  <a:srgbClr val="FFD700"/>
                </a:solidFill>
                <a:latin typeface="Georgia"/>
              </a:rPr>
              <a:t>$100,000</a:t>
            </a:r>
          </a:p>
        </p:txBody>
      </p:sp>
      <p:sp>
        <p:nvSpPr>
          <p:cNvPr id="184" name="BigNumLineBot"/>
          <p:cNvSpPr/>
          <p:nvPr/>
        </p:nvSpPr>
        <p:spPr>
          <a:xfrm>
            <a:off x="5181600" y="3886200"/>
            <a:ext cx="1828800" cy="0"/>
          </a:xfrm>
          <a:prstGeom prst="line">
            <a:avLst/>
          </a:prstGeom>
          <a:ln w="9525">
            <a:solidFill>
              <a:srgbClr val="FFD700">
                <a:alpha val="40000"/>
              </a:srgbClr>
            </a:solidFill>
          </a:ln>
        </p:spPr>
        <p:txBody>
          <a:bodyPr/>
          <a:lstStyle/>
          <a:p>
            <a:endParaRPr lang="en-US"/>
          </a:p>
        </p:txBody>
      </p:sp>
      <p:sp>
        <p:nvSpPr>
          <p:cNvPr id="185" name="BigNumHeadline"/>
          <p:cNvSpPr txBox="1"/>
          <p:nvPr/>
        </p:nvSpPr>
        <p:spPr>
          <a:xfrm>
            <a:off x="1371600" y="4114800"/>
            <a:ext cx="9448800" cy="609600"/>
          </a:xfrm>
          <a:prstGeom prst="rect">
            <a:avLst/>
          </a:prstGeom>
          <a:noFill/>
          <a:ln>
            <a:noFill/>
          </a:ln>
        </p:spPr>
        <p:txBody>
          <a:bodyPr anchor="t"/>
          <a:lstStyle/>
          <a:p>
            <a:pPr algn="ctr">
              <a:buNone/>
            </a:pPr>
            <a:r>
              <a:rPr lang="en-US" sz="2400" dirty="0">
                <a:solidFill>
                  <a:srgbClr val="E8E4DC"/>
                </a:solidFill>
                <a:latin typeface="Georgia"/>
              </a:rPr>
              <a:t>Supporting headline or context statement</a:t>
            </a:r>
          </a:p>
        </p:txBody>
      </p:sp>
      <p:sp>
        <p:nvSpPr>
          <p:cNvPr id="186" name="BigNumDesc"/>
          <p:cNvSpPr txBox="1"/>
          <p:nvPr/>
        </p:nvSpPr>
        <p:spPr>
          <a:xfrm>
            <a:off x="2286000" y="4724400"/>
            <a:ext cx="7620000" cy="457200"/>
          </a:xfrm>
          <a:prstGeom prst="rect">
            <a:avLst/>
          </a:prstGeom>
          <a:noFill/>
          <a:ln>
            <a:noFill/>
          </a:ln>
        </p:spPr>
        <p:txBody>
          <a:bodyPr anchor="t"/>
          <a:lstStyle/>
          <a:p>
            <a:pPr algn="ctr">
              <a:buNone/>
            </a:pPr>
            <a:r>
              <a:rPr lang="en-US" sz="1600" dirty="0">
                <a:solidFill>
                  <a:srgbClr val="8A857D"/>
                </a:solidFill>
                <a:latin typeface="Georgia"/>
              </a:rPr>
              <a:t>Additional context, source, or date reference</a:t>
            </a:r>
          </a:p>
        </p:txBody>
      </p:sp>
      <p:sp>
        <p:nvSpPr>
          <p:cNvPr id="990" name="C99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91" name="C99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92" name="C99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93" name="C99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94" name="C99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95" name="C99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96" name="C99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97" name="C99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737868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90" name="Grid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Sources</a:t>
            </a:r>
          </a:p>
        </p:txBody>
      </p:sp>
      <p:sp>
        <p:nvSpPr>
          <p:cNvPr id="191" name="GridDivider"/>
          <p:cNvSpPr/>
          <p:nvPr/>
        </p:nvSpPr>
        <p:spPr>
          <a:xfrm>
            <a:off x="609600" y="1028700"/>
            <a:ext cx="1143000" cy="0"/>
          </a:xfrm>
          <a:prstGeom prst="line">
            <a:avLst/>
          </a:prstGeom>
          <a:ln w="12700">
            <a:solidFill>
              <a:srgbClr val="FFD700"/>
            </a:solidFill>
          </a:ln>
        </p:spPr>
        <p:txBody>
          <a:bodyPr/>
          <a:lstStyle/>
          <a:p>
            <a:endParaRPr lang="en-US"/>
          </a:p>
        </p:txBody>
      </p:sp>
      <p:sp>
        <p:nvSpPr>
          <p:cNvPr id="192" name="SrcCard0"/>
          <p:cNvSpPr/>
          <p:nvPr/>
        </p:nvSpPr>
        <p:spPr>
          <a:xfrm>
            <a:off x="609600" y="12954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3" name="SrcLabel0"/>
          <p:cNvSpPr txBox="1"/>
          <p:nvPr/>
        </p:nvSpPr>
        <p:spPr>
          <a:xfrm>
            <a:off x="685800" y="34671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1</a:t>
            </a:r>
          </a:p>
        </p:txBody>
      </p:sp>
      <p:sp>
        <p:nvSpPr>
          <p:cNvPr id="194" name="SrcCard1"/>
          <p:cNvSpPr/>
          <p:nvPr/>
        </p:nvSpPr>
        <p:spPr>
          <a:xfrm>
            <a:off x="4318000" y="12954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5" name="SrcLabel1"/>
          <p:cNvSpPr txBox="1"/>
          <p:nvPr/>
        </p:nvSpPr>
        <p:spPr>
          <a:xfrm>
            <a:off x="4394200" y="34671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2</a:t>
            </a:r>
          </a:p>
        </p:txBody>
      </p:sp>
      <p:sp>
        <p:nvSpPr>
          <p:cNvPr id="196" name="SrcCard2"/>
          <p:cNvSpPr/>
          <p:nvPr/>
        </p:nvSpPr>
        <p:spPr>
          <a:xfrm>
            <a:off x="8026400" y="12954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7" name="SrcLabel2"/>
          <p:cNvSpPr txBox="1"/>
          <p:nvPr/>
        </p:nvSpPr>
        <p:spPr>
          <a:xfrm>
            <a:off x="8102600" y="34671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3</a:t>
            </a:r>
          </a:p>
        </p:txBody>
      </p:sp>
      <p:sp>
        <p:nvSpPr>
          <p:cNvPr id="198" name="SrcCard3"/>
          <p:cNvSpPr/>
          <p:nvPr/>
        </p:nvSpPr>
        <p:spPr>
          <a:xfrm>
            <a:off x="609600" y="39243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9" name="SrcLabel3"/>
          <p:cNvSpPr txBox="1"/>
          <p:nvPr/>
        </p:nvSpPr>
        <p:spPr>
          <a:xfrm>
            <a:off x="685800" y="60960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4</a:t>
            </a:r>
          </a:p>
        </p:txBody>
      </p:sp>
      <p:sp>
        <p:nvSpPr>
          <p:cNvPr id="200" name="SrcCard4"/>
          <p:cNvSpPr/>
          <p:nvPr/>
        </p:nvSpPr>
        <p:spPr>
          <a:xfrm>
            <a:off x="4318000" y="39243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201" name="SrcLabel4"/>
          <p:cNvSpPr txBox="1"/>
          <p:nvPr/>
        </p:nvSpPr>
        <p:spPr>
          <a:xfrm>
            <a:off x="4394200" y="60960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5</a:t>
            </a:r>
          </a:p>
        </p:txBody>
      </p:sp>
      <p:sp>
        <p:nvSpPr>
          <p:cNvPr id="202" name="SrcCard5"/>
          <p:cNvSpPr/>
          <p:nvPr/>
        </p:nvSpPr>
        <p:spPr>
          <a:xfrm>
            <a:off x="8026400" y="39243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203" name="SrcLabel5"/>
          <p:cNvSpPr txBox="1"/>
          <p:nvPr/>
        </p:nvSpPr>
        <p:spPr>
          <a:xfrm>
            <a:off x="8102600" y="60960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6</a:t>
            </a:r>
          </a:p>
        </p:txBody>
      </p:sp>
      <p:sp>
        <p:nvSpPr>
          <p:cNvPr id="950" name="C95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51" name="C95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52" name="C95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53" name="C95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54" name="C95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55" name="C95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56" name="C95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57" name="C95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58" name="C95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59" name="C96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60" name="C96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61" name="C96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951498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00" name="Flex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01"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202"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0xAE60 3D8C F174 5B29 C0E3 7A46 2F18 D5B9 491C 8ED5 B367 0AF2</a:t>
            </a:r>
          </a:p>
        </p:txBody>
      </p:sp>
      <p:sp>
        <p:nvSpPr>
          <p:cNvPr id="950" name="C95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51" name="C95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52" name="C95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53" name="C95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54" name="D95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55" name="C95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56" name="C95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57" name="C95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58" name="C95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59" name="D96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584645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1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211"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0xF028 5CA9 7E31 D4B6 1A83 0FC5 6247 E8DA 3B91 C7F2 0A58 4D6E</a:t>
            </a:r>
          </a:p>
        </p:txBody>
      </p:sp>
      <p:sp>
        <p:nvSpPr>
          <p:cNvPr id="212" name="TransTitle"/>
          <p:cNvSpPr txBox="1"/>
          <p:nvPr/>
        </p:nvSpPr>
        <p:spPr>
          <a:xfrm>
            <a:off x="762000" y="2286000"/>
            <a:ext cx="10972800" cy="914400"/>
          </a:xfrm>
          <a:prstGeom prst="rect">
            <a:avLst/>
          </a:prstGeom>
          <a:noFill/>
          <a:ln>
            <a:noFill/>
          </a:ln>
        </p:spPr>
        <p:txBody>
          <a:bodyPr anchor="b"/>
          <a:lstStyle/>
          <a:p>
            <a:pPr algn="l">
              <a:buNone/>
            </a:pPr>
            <a:r>
              <a:rPr lang="en-US" sz="3600" spc="50" dirty="0">
                <a:solidFill>
                  <a:srgbClr val="E8E4DC"/>
                </a:solidFill>
                <a:latin typeface="Georgia"/>
              </a:rPr>
              <a:t>Transition Title</a:t>
            </a:r>
          </a:p>
        </p:txBody>
      </p:sp>
      <p:sp>
        <p:nvSpPr>
          <p:cNvPr id="213" name="TransDivider"/>
          <p:cNvSpPr/>
          <p:nvPr/>
        </p:nvSpPr>
        <p:spPr>
          <a:xfrm>
            <a:off x="762000" y="3352800"/>
            <a:ext cx="1524000" cy="0"/>
          </a:xfrm>
          <a:prstGeom prst="line">
            <a:avLst/>
          </a:prstGeom>
          <a:ln w="12700">
            <a:solidFill>
              <a:srgbClr val="FFD700"/>
            </a:solidFill>
          </a:ln>
        </p:spPr>
        <p:txBody>
          <a:bodyPr/>
          <a:lstStyle/>
          <a:p>
            <a:endParaRPr lang="en-US"/>
          </a:p>
        </p:txBody>
      </p:sp>
      <p:sp>
        <p:nvSpPr>
          <p:cNvPr id="214" name="TransSubtitle"/>
          <p:cNvSpPr txBox="1"/>
          <p:nvPr/>
        </p:nvSpPr>
        <p:spPr>
          <a:xfrm>
            <a:off x="762000" y="3505200"/>
            <a:ext cx="8534400" cy="609600"/>
          </a:xfrm>
          <a:prstGeom prst="rect">
            <a:avLst/>
          </a:prstGeom>
          <a:noFill/>
          <a:ln>
            <a:noFill/>
          </a:ln>
        </p:spPr>
        <p:txBody>
          <a:bodyPr anchor="t"/>
          <a:lstStyle/>
          <a:p>
            <a:pPr algn="l">
              <a:buNone/>
            </a:pPr>
            <a:r>
              <a:rPr lang="en-US" sz="1800" dirty="0">
                <a:solidFill>
                  <a:srgbClr val="8A857D"/>
                </a:solidFill>
                <a:latin typeface="Georgia"/>
              </a:rPr>
              <a:t>Brief context or subtitle for this section</a:t>
            </a:r>
          </a:p>
        </p:txBody>
      </p:sp>
      <p:sp>
        <p:nvSpPr>
          <p:cNvPr id="960" name="C96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61" name="C96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62" name="C96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63" name="C96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64" name="C96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65" name="C96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66" name="C96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67" name="C96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68" name="C96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69" name="C97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70" name="C97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71" name="C97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72" name="C97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73" name="C97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74" name="C97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75" name="C97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921658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20" name="Icon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Icon Library</a:t>
            </a:r>
          </a:p>
        </p:txBody>
      </p:sp>
      <p:sp>
        <p:nvSpPr>
          <p:cNvPr id="221" name="IconDivider"/>
          <p:cNvSpPr/>
          <p:nvPr/>
        </p:nvSpPr>
        <p:spPr>
          <a:xfrm>
            <a:off x="609600" y="1028700"/>
            <a:ext cx="1143000" cy="0"/>
          </a:xfrm>
          <a:prstGeom prst="line">
            <a:avLst/>
          </a:prstGeom>
          <a:ln w="12700">
            <a:solidFill>
              <a:srgbClr val="FFD700"/>
            </a:solidFill>
          </a:ln>
        </p:spPr>
        <p:txBody>
          <a:bodyPr/>
          <a:lstStyle/>
          <a:p>
            <a:endParaRPr lang="en-US"/>
          </a:p>
        </p:txBody>
      </p:sp>
      <p:sp>
        <p:nvSpPr>
          <p:cNvPr id="222" name="IconLabel0"/>
          <p:cNvSpPr txBox="1"/>
          <p:nvPr/>
        </p:nvSpPr>
        <p:spPr>
          <a:xfrm>
            <a:off x="6096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GROWTH</a:t>
            </a:r>
          </a:p>
        </p:txBody>
      </p:sp>
      <p:sp>
        <p:nvSpPr>
          <p:cNvPr id="223" name="IconLabel1"/>
          <p:cNvSpPr txBox="1"/>
          <p:nvPr/>
        </p:nvSpPr>
        <p:spPr>
          <a:xfrm>
            <a:off x="33528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TEAM</a:t>
            </a:r>
          </a:p>
        </p:txBody>
      </p:sp>
      <p:sp>
        <p:nvSpPr>
          <p:cNvPr id="224" name="IconLabel2"/>
          <p:cNvSpPr txBox="1"/>
          <p:nvPr/>
        </p:nvSpPr>
        <p:spPr>
          <a:xfrm>
            <a:off x="60960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TARGET</a:t>
            </a:r>
          </a:p>
        </p:txBody>
      </p:sp>
      <p:sp>
        <p:nvSpPr>
          <p:cNvPr id="225" name="IconLabel3"/>
          <p:cNvSpPr txBox="1"/>
          <p:nvPr/>
        </p:nvSpPr>
        <p:spPr>
          <a:xfrm>
            <a:off x="88392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IDEA</a:t>
            </a:r>
          </a:p>
        </p:txBody>
      </p:sp>
      <p:sp>
        <p:nvSpPr>
          <p:cNvPr id="226" name="IconLabel4"/>
          <p:cNvSpPr txBox="1"/>
          <p:nvPr/>
        </p:nvSpPr>
        <p:spPr>
          <a:xfrm>
            <a:off x="6096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TIME</a:t>
            </a:r>
          </a:p>
        </p:txBody>
      </p:sp>
      <p:sp>
        <p:nvSpPr>
          <p:cNvPr id="227" name="IconLabel5"/>
          <p:cNvSpPr txBox="1"/>
          <p:nvPr/>
        </p:nvSpPr>
        <p:spPr>
          <a:xfrm>
            <a:off x="33528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WARNING</a:t>
            </a:r>
          </a:p>
        </p:txBody>
      </p:sp>
      <p:sp>
        <p:nvSpPr>
          <p:cNvPr id="228" name="IconLabel6"/>
          <p:cNvSpPr txBox="1"/>
          <p:nvPr/>
        </p:nvSpPr>
        <p:spPr>
          <a:xfrm>
            <a:off x="60960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DOLLAR</a:t>
            </a:r>
          </a:p>
        </p:txBody>
      </p:sp>
      <p:sp>
        <p:nvSpPr>
          <p:cNvPr id="229" name="IconLabel7"/>
          <p:cNvSpPr txBox="1"/>
          <p:nvPr/>
        </p:nvSpPr>
        <p:spPr>
          <a:xfrm>
            <a:off x="88392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STAR</a:t>
            </a:r>
          </a:p>
        </p:txBody>
      </p:sp>
      <p:sp>
        <p:nvSpPr>
          <p:cNvPr id="230" name="IconLabel8"/>
          <p:cNvSpPr txBox="1"/>
          <p:nvPr/>
        </p:nvSpPr>
        <p:spPr>
          <a:xfrm>
            <a:off x="6096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SECURITY</a:t>
            </a:r>
          </a:p>
        </p:txBody>
      </p:sp>
      <p:sp>
        <p:nvSpPr>
          <p:cNvPr id="231" name="IconLabel9"/>
          <p:cNvSpPr txBox="1"/>
          <p:nvPr/>
        </p:nvSpPr>
        <p:spPr>
          <a:xfrm>
            <a:off x="33528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LIGHTNING</a:t>
            </a:r>
          </a:p>
        </p:txBody>
      </p:sp>
      <p:sp>
        <p:nvSpPr>
          <p:cNvPr id="232" name="IconLabel10"/>
          <p:cNvSpPr txBox="1"/>
          <p:nvPr/>
        </p:nvSpPr>
        <p:spPr>
          <a:xfrm>
            <a:off x="60960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LINK</a:t>
            </a:r>
          </a:p>
        </p:txBody>
      </p:sp>
      <p:sp>
        <p:nvSpPr>
          <p:cNvPr id="233" name="IconLabel11"/>
          <p:cNvSpPr txBox="1"/>
          <p:nvPr/>
        </p:nvSpPr>
        <p:spPr>
          <a:xfrm>
            <a:off x="88392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SETTINGS</a:t>
            </a:r>
          </a:p>
        </p:txBody>
      </p:sp>
      <p:sp>
        <p:nvSpPr>
          <p:cNvPr id="24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241"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0x72D9 0B5E A183 C4F6 3E07 8D2A 6F15 B4C8 AE60 3D8C F174 5B29</a:t>
            </a:r>
          </a:p>
        </p:txBody>
      </p:sp>
      <p:sp>
        <p:nvSpPr>
          <p:cNvPr id="950" name="C95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51" name="C95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52" name="C953"/>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53" name="C954"/>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54" name="C955"/>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55" name="C956"/>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56" name="C957"/>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57" name="C958"/>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58" name="C959"/>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59" name="C960"/>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60" name="C96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61" name="C962"/>
          <p:cNvSpPr/>
          <p:nvPr/>
        </p:nvSpPr>
        <p:spPr>
          <a:xfrm>
            <a:off x="11734800" y="6096000"/>
            <a:ext cx="0" cy="304800"/>
          </a:xfrm>
          <a:prstGeom prst="line">
            <a:avLst/>
          </a:prstGeom>
          <a:ln w="6350">
            <a:solidFill>
              <a:srgbClr val="C9A84C">
                <a:alpha val="30000"/>
              </a:srgbClr>
            </a:solidFill>
          </a:ln>
        </p:spPr>
        <p:txBody>
          <a:bodyPr/>
          <a:lstStyle/>
          <a:p>
            <a:endParaRPr lang="en-US"/>
          </a:p>
        </p:txBody>
      </p:sp>
      <p:pic>
        <p:nvPicPr>
          <p:cNvPr id="962" name="Graphic 962" descr="Growth trend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51000" y="1651000"/>
            <a:ext cx="609600" cy="609600"/>
          </a:xfrm>
          <a:prstGeom prst="rect">
            <a:avLst/>
          </a:prstGeom>
        </p:spPr>
      </p:pic>
      <p:pic>
        <p:nvPicPr>
          <p:cNvPr id="963" name="Graphic 963" descr="Team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94200" y="1651000"/>
            <a:ext cx="609600" cy="609600"/>
          </a:xfrm>
          <a:prstGeom prst="rect">
            <a:avLst/>
          </a:prstGeom>
        </p:spPr>
      </p:pic>
      <p:pic>
        <p:nvPicPr>
          <p:cNvPr id="964" name="Graphic 964" descr="Target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37400" y="1651000"/>
            <a:ext cx="609600" cy="609600"/>
          </a:xfrm>
          <a:prstGeom prst="rect">
            <a:avLst/>
          </a:prstGeom>
        </p:spPr>
      </p:pic>
      <p:pic>
        <p:nvPicPr>
          <p:cNvPr id="965" name="Graphic 965" descr="Idea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80600" y="1651000"/>
            <a:ext cx="609600" cy="609600"/>
          </a:xfrm>
          <a:prstGeom prst="rect">
            <a:avLst/>
          </a:prstGeom>
        </p:spPr>
      </p:pic>
      <p:pic>
        <p:nvPicPr>
          <p:cNvPr id="966" name="Graphic 966" descr="Time icon"/>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51000" y="3403600"/>
            <a:ext cx="609600" cy="609600"/>
          </a:xfrm>
          <a:prstGeom prst="rect">
            <a:avLst/>
          </a:prstGeom>
        </p:spPr>
      </p:pic>
      <p:pic>
        <p:nvPicPr>
          <p:cNvPr id="967" name="Graphic 967" descr="Warning icon"/>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94200" y="3403600"/>
            <a:ext cx="609600" cy="609600"/>
          </a:xfrm>
          <a:prstGeom prst="rect">
            <a:avLst/>
          </a:prstGeom>
        </p:spPr>
      </p:pic>
      <p:pic>
        <p:nvPicPr>
          <p:cNvPr id="968" name="Graphic 968" descr="Dollar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137400" y="3403600"/>
            <a:ext cx="609600" cy="609600"/>
          </a:xfrm>
          <a:prstGeom prst="rect">
            <a:avLst/>
          </a:prstGeom>
        </p:spPr>
      </p:pic>
      <p:pic>
        <p:nvPicPr>
          <p:cNvPr id="969" name="Graphic 969" descr="Star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880600" y="3403600"/>
            <a:ext cx="609600" cy="609600"/>
          </a:xfrm>
          <a:prstGeom prst="rect">
            <a:avLst/>
          </a:prstGeom>
        </p:spPr>
      </p:pic>
      <p:pic>
        <p:nvPicPr>
          <p:cNvPr id="970" name="Graphic 970" descr="Security icon"/>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651000" y="5156200"/>
            <a:ext cx="609600" cy="609600"/>
          </a:xfrm>
          <a:prstGeom prst="rect">
            <a:avLst/>
          </a:prstGeom>
        </p:spPr>
      </p:pic>
      <p:pic>
        <p:nvPicPr>
          <p:cNvPr id="971" name="Graphic 971" descr="Lightning icon"/>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394200" y="5156200"/>
            <a:ext cx="609600" cy="609600"/>
          </a:xfrm>
          <a:prstGeom prst="rect">
            <a:avLst/>
          </a:prstGeom>
        </p:spPr>
      </p:pic>
      <p:pic>
        <p:nvPicPr>
          <p:cNvPr id="972" name="Graphic 972" descr="Link icon"/>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137400" y="5156200"/>
            <a:ext cx="609600" cy="609600"/>
          </a:xfrm>
          <a:prstGeom prst="rect">
            <a:avLst/>
          </a:prstGeom>
        </p:spPr>
      </p:pic>
      <p:pic>
        <p:nvPicPr>
          <p:cNvPr id="973" name="Graphic 973" descr="Settings icon"/>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880600" y="5156200"/>
            <a:ext cx="609600" cy="609600"/>
          </a:xfrm>
          <a:prstGeom prst="rect">
            <a:avLst/>
          </a:prstGeom>
        </p:spPr>
      </p:pic>
    </p:spTree>
    <p:extLst>
      <p:ext uri="{BB962C8B-B14F-4D97-AF65-F5344CB8AC3E}">
        <p14:creationId xmlns:p14="http://schemas.microsoft.com/office/powerpoint/2010/main" val="3163888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B1655F1-1AF4-401C-B7FD-74B52CC407B8}">
  <we:reference id="wa200010001" version="1.0.0.0" store="en-US"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1062</TotalTime>
  <Words>809</Words>
  <Application>Microsoft Office PowerPoint</Application>
  <PresentationFormat>Widescreen</PresentationFormat>
  <Paragraphs>160</Paragraphs>
  <Slides>21</Slides>
  <Notes>0</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21</vt:i4>
      </vt:variant>
    </vt:vector>
  </HeadingPairs>
  <TitlesOfParts>
    <vt:vector size="33" baseType="lpstr">
      <vt:lpstr>Arial</vt:lpstr>
      <vt:lpstr>Calibri</vt:lpstr>
      <vt:lpstr>Calibri Light</vt:lpstr>
      <vt:lpstr>Consolas</vt:lpstr>
      <vt:lpstr>Georgia</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Giancarlo Carnevale</dc:creator>
  <cp:lastModifiedBy>Giancarlo Carnevale</cp:lastModifiedBy>
  <cp:revision>5</cp:revision>
  <dcterms:created xsi:type="dcterms:W3CDTF">2026-02-21T00:14:42Z</dcterms:created>
  <dcterms:modified xsi:type="dcterms:W3CDTF">2026-02-21T18:41:08Z</dcterms:modified>
</cp:coreProperties>
</file>